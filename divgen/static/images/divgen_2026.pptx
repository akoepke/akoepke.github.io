
<file path=[Content_Types].xml><?xml version="1.0" encoding="utf-8"?>
<Types xmlns="http://schemas.openxmlformats.org/package/2006/content-types">
  <Default Extension="emf" ContentType="image/x-em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391" r:id="rId3"/>
    <p:sldId id="283" r:id="rId4"/>
    <p:sldId id="284" r:id="rId5"/>
    <p:sldId id="285" r:id="rId6"/>
    <p:sldId id="296" r:id="rId7"/>
    <p:sldId id="290" r:id="rId8"/>
    <p:sldId id="294" r:id="rId9"/>
    <p:sldId id="389" r:id="rId10"/>
    <p:sldId id="326" r:id="rId11"/>
    <p:sldId id="298" r:id="rId12"/>
    <p:sldId id="305" r:id="rId13"/>
    <p:sldId id="301" r:id="rId14"/>
    <p:sldId id="411" r:id="rId15"/>
    <p:sldId id="394" r:id="rId16"/>
    <p:sldId id="395" r:id="rId17"/>
    <p:sldId id="410" r:id="rId18"/>
    <p:sldId id="393" r:id="rId19"/>
    <p:sldId id="373" r:id="rId20"/>
    <p:sldId id="377" r:id="rId21"/>
    <p:sldId id="374" r:id="rId22"/>
    <p:sldId id="378" r:id="rId23"/>
    <p:sldId id="375" r:id="rId24"/>
    <p:sldId id="376" r:id="rId25"/>
    <p:sldId id="379" r:id="rId26"/>
    <p:sldId id="384" r:id="rId27"/>
    <p:sldId id="402" r:id="rId28"/>
    <p:sldId id="408" r:id="rId29"/>
    <p:sldId id="409" r:id="rId30"/>
    <p:sldId id="380" r:id="rId31"/>
    <p:sldId id="400" r:id="rId32"/>
    <p:sldId id="398" r:id="rId33"/>
    <p:sldId id="399" r:id="rId34"/>
    <p:sldId id="381" r:id="rId35"/>
    <p:sldId id="397" r:id="rId36"/>
    <p:sldId id="383" r:id="rId37"/>
    <p:sldId id="353" r:id="rId38"/>
    <p:sldId id="385" r:id="rId39"/>
    <p:sldId id="356" r:id="rId40"/>
    <p:sldId id="363" r:id="rId4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e Harrington" initials="" lastIdx="36" clrIdx="0"/>
  <p:cmAuthor id="1" name="Anne Harrington" initials="AH" lastIdx="4" clrIdx="1">
    <p:extLst>
      <p:ext uri="{19B8F6BF-5375-455C-9EA6-DF929625EA0E}">
        <p15:presenceInfo xmlns:p15="http://schemas.microsoft.com/office/powerpoint/2012/main" userId="S::anneko@BERKELEY.EDU::815f2f81-15fa-491b-8d36-75354f39beb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7C3AED"/>
    <a:srgbClr val="0001FF"/>
    <a:srgbClr val="53D1B7"/>
    <a:srgbClr val="FFD656"/>
    <a:srgbClr val="4285F4"/>
    <a:srgbClr val="CBD5E1"/>
    <a:srgbClr val="D97706"/>
    <a:srgbClr val="000000"/>
    <a:srgbClr val="BE12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78"/>
    <p:restoredTop sz="83817"/>
  </p:normalViewPr>
  <p:slideViewPr>
    <p:cSldViewPr snapToGrid="0">
      <p:cViewPr varScale="1">
        <p:scale>
          <a:sx n="139" d="100"/>
          <a:sy n="139" d="100"/>
        </p:scale>
        <p:origin x="40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7T17:58:31.112" idx="4">
    <p:pos x="10" y="10"/>
    <p:text>Add google search cats?</p:text>
    <p:extLst>
      <p:ext uri="{C676402C-5697-4E1C-873F-D02D1690AC5C}">
        <p15:threadingInfo xmlns:p15="http://schemas.microsoft.com/office/powerpoint/2012/main" timeZoneBias="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D6D27-512C-39ED-0ADD-C35626524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D4F47-B4F2-5958-D24D-9BCC9B1AC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CEA94-8EB6-90FD-F97E-1D883AEC7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540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D39CC-E825-110A-702B-F38B583D9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5DBDD-AE70-23A5-5444-1581190EE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AABBF0-EFA6-5D36-90D3-0173B7F9F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483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B930-31C2-63EF-2F5C-BF394819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36E3D-7C13-C5E7-8194-FCE9AE5B8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981DF-0BD5-78EE-7578-735FD88F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27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DA313-71C5-90E4-8E31-89A63C1E8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0E1B7-5005-0835-6D8D-FC198DF03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9C6A8-0BBC-54C7-CEAB-17758869E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83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407B-E034-4DAE-8F31-213E88839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26C0B-4CE7-78CD-860E-F893E1610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06115-CC1F-703A-65EF-EB5B97CF9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012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FC969-C714-E836-6010-9E3583487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DE137-B4AA-64C0-4EC6-EA30EF880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51ED0-CE48-09D4-D6BB-997AB95DF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560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C322C-8EF7-74B5-84F9-FDFAB8FBD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C30687-69FB-DC10-512B-7CDEDA6E4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CAB9A-E050-7284-7EED-3560F2698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183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3B766-BB1A-1E14-D5A4-FFE10AB1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9D2FE-2728-A716-9218-6AE432CC1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E327D-C6E6-7B02-1814-B4466486E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303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84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A24DA-A525-1CEB-A90C-88184C930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C8B7BE-8930-B590-3325-48FFC7D3F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CCBC4-7790-6A2E-C7D8-BF3A9F25D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419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0FA33-328D-C3D8-A7B0-45ADFE5D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F0A4A-8A41-B0F7-72BA-FB20F3D1F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62056-E5BF-EF3E-9376-D01661B63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71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892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3119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636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64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6653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527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03D5E-230D-213A-F1CB-A865AC00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76B73-313D-8F6A-7A3A-B5B072A60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5B5BD-4736-8FE2-ED9A-03CDEA33F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5974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2F4F4-BC78-E799-5147-2047139E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F4B41-1561-0895-A7EC-5256F5DEB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1B577-5260-87CE-1092-3DF6782F0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1200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08BC5-7B25-DE92-36A4-2D4352F75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B8618-6516-C1C2-DFB9-A0EC1FDF0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DA086-BF45-2131-4A6F-B0D46BB08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9843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9292-051F-5A70-4BCF-2E6590DC4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7EDE5-73BC-0FCC-F0E3-59EA4859B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4C0F9-C941-2D77-A98D-5BFF734D5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055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06455-9FA6-E35A-D6B0-C4513635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4E3B9-C9A9-8621-900D-C9E0F22BA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6ECE7-28C3-0F87-E547-EE2A21B3A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3690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55DA-81BA-89EB-3A97-62D9A9E2C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B423F-8F3E-3121-8B12-F3D60391B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1834E-3E9C-4421-B71E-B2A1510F4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8420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5104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1214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3841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2188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5905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2246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1457-9F3E-74B7-37BC-8985BAA4E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BEE96-9F1D-EF77-7D03-A365B6EEE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29D8B-1015-05DD-79BA-FD7D85C7E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7378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A903-57ED-C2DF-0544-17537C975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E0E9B-C5EA-E1F0-15E0-AA33D1F4D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8764B-DB8B-818A-D175-45B302193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8498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B930-EAF2-9A28-641D-3664D3549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CB7AD-1AC0-936C-2030-5685E9AA3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E58E2-2E06-8767-1F07-5990A3BBD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2183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6311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5459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3294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6390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581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097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2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3" Type="http://schemas.openxmlformats.org/officeDocument/2006/relationships/image" Target="../media/image2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5" Type="http://schemas.openxmlformats.org/officeDocument/2006/relationships/comments" Target="../comments/comment1.xml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Relationship Id="rId1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3" Type="http://schemas.openxmlformats.org/officeDocument/2006/relationships/image" Target="../media/image2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Relationship Id="rId1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g"/><Relationship Id="rId11" Type="http://schemas.openxmlformats.org/officeDocument/2006/relationships/image" Target="../media/image15.png"/><Relationship Id="rId5" Type="http://schemas.openxmlformats.org/officeDocument/2006/relationships/image" Target="../media/image8.jpg"/><Relationship Id="rId10" Type="http://schemas.openxmlformats.org/officeDocument/2006/relationships/image" Target="../media/image10.jpg"/><Relationship Id="rId4" Type="http://schemas.openxmlformats.org/officeDocument/2006/relationships/image" Target="../media/image7.jpg"/><Relationship Id="rId9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jp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8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10.jpg"/><Relationship Id="rId4" Type="http://schemas.openxmlformats.org/officeDocument/2006/relationships/image" Target="../media/image19.png"/><Relationship Id="rId9" Type="http://schemas.openxmlformats.org/officeDocument/2006/relationships/image" Target="../media/image2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8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10.jpg"/><Relationship Id="rId4" Type="http://schemas.openxmlformats.org/officeDocument/2006/relationships/image" Target="../media/image19.png"/><Relationship Id="rId9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8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10.jpg"/><Relationship Id="rId4" Type="http://schemas.openxmlformats.org/officeDocument/2006/relationships/image" Target="../media/image19.png"/><Relationship Id="rId9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24.jpg"/><Relationship Id="rId3" Type="http://schemas.openxmlformats.org/officeDocument/2006/relationships/image" Target="../media/image18.png"/><Relationship Id="rId7" Type="http://schemas.openxmlformats.org/officeDocument/2006/relationships/image" Target="../media/image9.jpg"/><Relationship Id="rId12" Type="http://schemas.openxmlformats.org/officeDocument/2006/relationships/image" Target="../media/image2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11" Type="http://schemas.openxmlformats.org/officeDocument/2006/relationships/image" Target="../media/image22.jpg"/><Relationship Id="rId5" Type="http://schemas.openxmlformats.org/officeDocument/2006/relationships/image" Target="../media/image20.png"/><Relationship Id="rId10" Type="http://schemas.openxmlformats.org/officeDocument/2006/relationships/image" Target="../media/image10.jpg"/><Relationship Id="rId4" Type="http://schemas.openxmlformats.org/officeDocument/2006/relationships/image" Target="../media/image19.png"/><Relationship Id="rId9" Type="http://schemas.openxmlformats.org/officeDocument/2006/relationships/image" Target="../media/image2.jpg"/><Relationship Id="rId14" Type="http://schemas.openxmlformats.org/officeDocument/2006/relationships/image" Target="../media/image2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38.png"/><Relationship Id="rId7" Type="http://schemas.openxmlformats.org/officeDocument/2006/relationships/image" Target="../media/image35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jpg"/><Relationship Id="rId7" Type="http://schemas.openxmlformats.org/officeDocument/2006/relationships/image" Target="../media/image46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jpg"/><Relationship Id="rId5" Type="http://schemas.openxmlformats.org/officeDocument/2006/relationships/image" Target="../media/image44.jpg"/><Relationship Id="rId10" Type="http://schemas.openxmlformats.org/officeDocument/2006/relationships/image" Target="../media/image49.png"/><Relationship Id="rId4" Type="http://schemas.openxmlformats.org/officeDocument/2006/relationships/image" Target="../media/image43.jpg"/><Relationship Id="rId9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316225"/>
            <a:ext cx="9144000" cy="17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Never Too Late: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Optimization for Collapse Recovery in Trained Diffusion Models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688" y="4355031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Anne Harrington*, A. Sophia Koepke*, </a:t>
            </a:r>
            <a:r>
              <a:rPr lang="e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Shyamgopal</a:t>
            </a:r>
            <a:r>
              <a:rPr lang="e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Karthik, Trevor Darrell, Alexei A. Efros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1750" dirty="0"/>
          </a:p>
        </p:txBody>
      </p:sp>
      <p:pic>
        <p:nvPicPr>
          <p:cNvPr id="4" name="Picture 3" descr="A collage of cats&#10;&#10;AI-generated content may be incorrect.">
            <a:extLst>
              <a:ext uri="{FF2B5EF4-FFF2-40B4-BE49-F238E27FC236}">
                <a16:creationId xmlns:a16="http://schemas.microsoft.com/office/drawing/2014/main" id="{5F041A33-23FA-53AD-537C-E92F67922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70" y="1783827"/>
            <a:ext cx="8127060" cy="22255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D50A89-2D6E-D993-CDAB-8A8E5AF33A0B}"/>
              </a:ext>
            </a:extLst>
          </p:cNvPr>
          <p:cNvSpPr txBox="1"/>
          <p:nvPr/>
        </p:nvSpPr>
        <p:spPr>
          <a:xfrm>
            <a:off x="0" y="4827275"/>
            <a:ext cx="2387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CVPR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F35A-8850-4803-5C49-4F5C382DC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29644C1-3EFA-DC7D-99B9-4E27AA23521B}"/>
              </a:ext>
            </a:extLst>
          </p:cNvPr>
          <p:cNvGrpSpPr/>
          <p:nvPr/>
        </p:nvGrpSpPr>
        <p:grpSpPr>
          <a:xfrm>
            <a:off x="3921592" y="1950478"/>
            <a:ext cx="1753463" cy="1555755"/>
            <a:chOff x="3441962" y="1999621"/>
            <a:chExt cx="1901088" cy="1661144"/>
          </a:xfrm>
        </p:grpSpPr>
        <p:sp>
          <p:nvSpPr>
            <p:cNvPr id="10" name="Trapezoid 9">
              <a:extLst>
                <a:ext uri="{FF2B5EF4-FFF2-40B4-BE49-F238E27FC236}">
                  <a16:creationId xmlns:a16="http://schemas.microsoft.com/office/drawing/2014/main" id="{553FCA0A-64FE-4EE3-8FA0-5313B0FC77BF}"/>
                </a:ext>
              </a:extLst>
            </p:cNvPr>
            <p:cNvSpPr/>
            <p:nvPr/>
          </p:nvSpPr>
          <p:spPr>
            <a:xfrm rot="16200000">
              <a:off x="3561934" y="1879649"/>
              <a:ext cx="1661144" cy="1901088"/>
            </a:xfrm>
            <a:prstGeom prst="trapezoid">
              <a:avLst/>
            </a:prstGeom>
            <a:solidFill>
              <a:srgbClr val="D9E3EF"/>
            </a:solidFill>
            <a:ln cap="rnd">
              <a:solidFill>
                <a:srgbClr val="D9E3E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81B4648-0B30-C5F2-F662-C4E5D858B70E}"/>
                </a:ext>
              </a:extLst>
            </p:cNvPr>
            <p:cNvSpPr txBox="1"/>
            <p:nvPr/>
          </p:nvSpPr>
          <p:spPr>
            <a:xfrm>
              <a:off x="3473081" y="2645526"/>
              <a:ext cx="1838850" cy="358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478FA7-ADB4-CE3E-7CFC-DF622F15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magic of text to image diffusion models ✨</a:t>
            </a:r>
          </a:p>
        </p:txBody>
      </p:sp>
      <p:pic>
        <p:nvPicPr>
          <p:cNvPr id="11" name="Picture 10" descr="A close up of a cat&#10;&#10;AI-generated content may be incorrect.">
            <a:extLst>
              <a:ext uri="{FF2B5EF4-FFF2-40B4-BE49-F238E27FC236}">
                <a16:creationId xmlns:a16="http://schemas.microsoft.com/office/drawing/2014/main" id="{04327633-4950-6F1F-7B4B-B6302A7B8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313" y="1926068"/>
            <a:ext cx="1661145" cy="166114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894A18C-EFBE-1658-61DC-416AC2F64489}"/>
              </a:ext>
            </a:extLst>
          </p:cNvPr>
          <p:cNvGrpSpPr/>
          <p:nvPr/>
        </p:nvGrpSpPr>
        <p:grpSpPr>
          <a:xfrm>
            <a:off x="378780" y="1599476"/>
            <a:ext cx="2321169" cy="2314327"/>
            <a:chOff x="214997" y="1577591"/>
            <a:chExt cx="2321169" cy="2314327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7BF63CC3-A250-D6A3-D474-6449AEF0A82F}"/>
                </a:ext>
              </a:extLst>
            </p:cNvPr>
            <p:cNvSpPr/>
            <p:nvPr/>
          </p:nvSpPr>
          <p:spPr>
            <a:xfrm>
              <a:off x="214997" y="1577591"/>
              <a:ext cx="2321169" cy="2314327"/>
            </a:xfrm>
            <a:prstGeom prst="roundRect">
              <a:avLst/>
            </a:prstGeom>
            <a:solidFill>
              <a:schemeClr val="bg1">
                <a:lumMod val="65000"/>
                <a:alpha val="30362"/>
              </a:schemeClr>
            </a:solidFill>
            <a:ln>
              <a:solidFill>
                <a:schemeClr val="bg1">
                  <a:lumMod val="50000"/>
                  <a:alpha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2BF532A-2371-1F34-8E33-A3370883E803}"/>
                </a:ext>
              </a:extLst>
            </p:cNvPr>
            <p:cNvSpPr txBox="1"/>
            <p:nvPr/>
          </p:nvSpPr>
          <p:spPr>
            <a:xfrm>
              <a:off x="214997" y="1686946"/>
              <a:ext cx="23211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01FF"/>
                  </a:solidFill>
                  <a:latin typeface="Comic Sans MS" panose="030F0902030302020204" pitchFamily="66" charset="0"/>
                </a:rPr>
                <a:t>“a photo of a cat”</a:t>
              </a: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A1FAAA-6367-5ECA-DBC6-B29EECDF1928}"/>
              </a:ext>
            </a:extLst>
          </p:cNvPr>
          <p:cNvCxnSpPr/>
          <p:nvPr/>
        </p:nvCxnSpPr>
        <p:spPr>
          <a:xfrm>
            <a:off x="2925947" y="2756641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1D084AA-D201-A5C6-0A6A-86760F9170D9}"/>
              </a:ext>
            </a:extLst>
          </p:cNvPr>
          <p:cNvCxnSpPr/>
          <p:nvPr/>
        </p:nvCxnSpPr>
        <p:spPr>
          <a:xfrm>
            <a:off x="5932172" y="2763246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lose-up of a pixelated screen&#10;&#10;AI-generated content may be incorrect.">
            <a:extLst>
              <a:ext uri="{FF2B5EF4-FFF2-40B4-BE49-F238E27FC236}">
                <a16:creationId xmlns:a16="http://schemas.microsoft.com/office/drawing/2014/main" id="{7F58CFDA-2024-0CB4-BEC4-5CB9C33E2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64" y="2164813"/>
            <a:ext cx="1422400" cy="1422400"/>
          </a:xfrm>
          <a:prstGeom prst="rect">
            <a:avLst/>
          </a:prstGeom>
        </p:spPr>
      </p:pic>
      <p:sp>
        <p:nvSpPr>
          <p:cNvPr id="14" name="Graphic 12" descr="Refresh with solid fill">
            <a:extLst>
              <a:ext uri="{FF2B5EF4-FFF2-40B4-BE49-F238E27FC236}">
                <a16:creationId xmlns:a16="http://schemas.microsoft.com/office/drawing/2014/main" id="{FFFAC5DC-6137-D752-BADD-BA13B84B4A21}"/>
              </a:ext>
            </a:extLst>
          </p:cNvPr>
          <p:cNvSpPr/>
          <p:nvPr/>
        </p:nvSpPr>
        <p:spPr>
          <a:xfrm>
            <a:off x="4563240" y="3176058"/>
            <a:ext cx="445982" cy="484209"/>
          </a:xfrm>
          <a:custGeom>
            <a:avLst/>
            <a:gdLst>
              <a:gd name="csX0" fmla="*/ 666750 w 666750"/>
              <a:gd name="csY0" fmla="*/ 228600 h 723900"/>
              <a:gd name="csX1" fmla="*/ 666750 w 666750"/>
              <a:gd name="csY1" fmla="*/ 28575 h 723900"/>
              <a:gd name="csX2" fmla="*/ 602933 w 666750"/>
              <a:gd name="csY2" fmla="*/ 92393 h 723900"/>
              <a:gd name="csX3" fmla="*/ 361950 w 666750"/>
              <a:gd name="csY3" fmla="*/ 0 h 723900"/>
              <a:gd name="csX4" fmla="*/ 0 w 666750"/>
              <a:gd name="csY4" fmla="*/ 361950 h 723900"/>
              <a:gd name="csX5" fmla="*/ 361950 w 666750"/>
              <a:gd name="csY5" fmla="*/ 723900 h 723900"/>
              <a:gd name="csX6" fmla="*/ 618173 w 666750"/>
              <a:gd name="csY6" fmla="*/ 618173 h 723900"/>
              <a:gd name="csX7" fmla="*/ 537210 w 666750"/>
              <a:gd name="csY7" fmla="*/ 537210 h 723900"/>
              <a:gd name="csX8" fmla="*/ 361950 w 666750"/>
              <a:gd name="csY8" fmla="*/ 609600 h 723900"/>
              <a:gd name="csX9" fmla="*/ 114300 w 666750"/>
              <a:gd name="csY9" fmla="*/ 361950 h 723900"/>
              <a:gd name="csX10" fmla="*/ 361950 w 666750"/>
              <a:gd name="csY10" fmla="*/ 114300 h 723900"/>
              <a:gd name="csX11" fmla="*/ 521970 w 666750"/>
              <a:gd name="csY11" fmla="*/ 173355 h 723900"/>
              <a:gd name="csX12" fmla="*/ 466725 w 666750"/>
              <a:gd name="csY12" fmla="*/ 228600 h 723900"/>
              <a:gd name="csX13" fmla="*/ 666750 w 666750"/>
              <a:gd name="csY13" fmla="*/ 228600 h 723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66750" h="723900">
                <a:moveTo>
                  <a:pt x="666750" y="228600"/>
                </a:moveTo>
                <a:lnTo>
                  <a:pt x="666750" y="28575"/>
                </a:lnTo>
                <a:lnTo>
                  <a:pt x="602933" y="92393"/>
                </a:lnTo>
                <a:cubicBezTo>
                  <a:pt x="539115" y="35243"/>
                  <a:pt x="454343" y="0"/>
                  <a:pt x="361950" y="0"/>
                </a:cubicBez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461963" y="723900"/>
                  <a:pt x="552450" y="682943"/>
                  <a:pt x="618173" y="618173"/>
                </a:cubicBezTo>
                <a:lnTo>
                  <a:pt x="537210" y="537210"/>
                </a:lnTo>
                <a:cubicBezTo>
                  <a:pt x="492443" y="581978"/>
                  <a:pt x="430530" y="609600"/>
                  <a:pt x="361950" y="609600"/>
                </a:cubicBezTo>
                <a:cubicBezTo>
                  <a:pt x="225743" y="609600"/>
                  <a:pt x="114300" y="498158"/>
                  <a:pt x="114300" y="361950"/>
                </a:cubicBezTo>
                <a:cubicBezTo>
                  <a:pt x="114300" y="225743"/>
                  <a:pt x="225743" y="114300"/>
                  <a:pt x="361950" y="114300"/>
                </a:cubicBezTo>
                <a:cubicBezTo>
                  <a:pt x="422910" y="114300"/>
                  <a:pt x="479108" y="136208"/>
                  <a:pt x="521970" y="173355"/>
                </a:cubicBezTo>
                <a:lnTo>
                  <a:pt x="466725" y="228600"/>
                </a:lnTo>
                <a:lnTo>
                  <a:pt x="666750" y="228600"/>
                </a:lnTo>
                <a:close/>
              </a:path>
            </a:pathLst>
          </a:custGeom>
          <a:solidFill>
            <a:srgbClr val="000000">
              <a:alpha val="80123"/>
            </a:srgb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18E3FC-BDBF-591E-2499-5A9A5F058837}"/>
              </a:ext>
            </a:extLst>
          </p:cNvPr>
          <p:cNvSpPr txBox="1"/>
          <p:nvPr/>
        </p:nvSpPr>
        <p:spPr>
          <a:xfrm>
            <a:off x="4059044" y="3821965"/>
            <a:ext cx="161601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 steps…</a:t>
            </a:r>
          </a:p>
        </p:txBody>
      </p:sp>
    </p:spTree>
    <p:extLst>
      <p:ext uri="{BB962C8B-B14F-4D97-AF65-F5344CB8AC3E}">
        <p14:creationId xmlns:p14="http://schemas.microsoft.com/office/powerpoint/2010/main" val="2330196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60DBC-3615-628D-525D-38E49DDBA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C532-03AD-295C-68C8-0F9B26313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we keep generating…?</a:t>
            </a:r>
          </a:p>
        </p:txBody>
      </p:sp>
      <p:pic>
        <p:nvPicPr>
          <p:cNvPr id="11" name="Picture 10" descr="A close up of a cat&#10;&#10;AI-generated content may be incorrect.">
            <a:extLst>
              <a:ext uri="{FF2B5EF4-FFF2-40B4-BE49-F238E27FC236}">
                <a16:creationId xmlns:a16="http://schemas.microsoft.com/office/drawing/2014/main" id="{8D3D295A-3DD0-5DD5-2639-FC51701EA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035" y="1756565"/>
            <a:ext cx="1661145" cy="16611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14E741-89E8-F900-07F4-B54482BC7D70}"/>
              </a:ext>
            </a:extLst>
          </p:cNvPr>
          <p:cNvSpPr txBox="1"/>
          <p:nvPr/>
        </p:nvSpPr>
        <p:spPr>
          <a:xfrm>
            <a:off x="311700" y="2387082"/>
            <a:ext cx="2321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rgbClr val="0001FF"/>
                </a:solidFill>
                <a:latin typeface="Comic Sans MS" panose="030F0902030302020204" pitchFamily="66" charset="0"/>
              </a:rPr>
              <a:t>“a photo of a cat”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4FE8B8-EF08-26CE-25DB-37A446CD663E}"/>
              </a:ext>
            </a:extLst>
          </p:cNvPr>
          <p:cNvCxnSpPr>
            <a:cxnSpLocks/>
          </p:cNvCxnSpPr>
          <p:nvPr/>
        </p:nvCxnSpPr>
        <p:spPr>
          <a:xfrm>
            <a:off x="2741749" y="2571750"/>
            <a:ext cx="836526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735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3DB4-B5C7-A020-1EEE-06D25B2BB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DD87-F315-591C-FC49-CF1BA3E83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we keep generating…?</a:t>
            </a:r>
            <a:endParaRPr lang="en-US" sz="2000" dirty="0"/>
          </a:p>
        </p:txBody>
      </p:sp>
      <p:pic>
        <p:nvPicPr>
          <p:cNvPr id="11" name="Picture 10" descr="A close up of a cat&#10;&#10;AI-generated content may be incorrect.">
            <a:extLst>
              <a:ext uri="{FF2B5EF4-FFF2-40B4-BE49-F238E27FC236}">
                <a16:creationId xmlns:a16="http://schemas.microsoft.com/office/drawing/2014/main" id="{E2C0F364-8F40-A752-A6E2-6C1D36DFA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035" y="1756565"/>
            <a:ext cx="1661145" cy="16611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C33957-E8FA-563B-789A-4B3D6F180B2B}"/>
              </a:ext>
            </a:extLst>
          </p:cNvPr>
          <p:cNvSpPr txBox="1"/>
          <p:nvPr/>
        </p:nvSpPr>
        <p:spPr>
          <a:xfrm>
            <a:off x="311700" y="2387082"/>
            <a:ext cx="2321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rgbClr val="0001FF"/>
                </a:solidFill>
                <a:latin typeface="Comic Sans MS" panose="030F0902030302020204" pitchFamily="66" charset="0"/>
              </a:rPr>
              <a:t>“a photo of a cat”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8AB2A2-A24F-BEED-38CB-6D7D4E3C2458}"/>
              </a:ext>
            </a:extLst>
          </p:cNvPr>
          <p:cNvCxnSpPr>
            <a:cxnSpLocks/>
          </p:cNvCxnSpPr>
          <p:nvPr/>
        </p:nvCxnSpPr>
        <p:spPr>
          <a:xfrm>
            <a:off x="2741749" y="2571750"/>
            <a:ext cx="836526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t lying on a fur surface&#10;&#10;AI-generated content may be incorrect.">
            <a:extLst>
              <a:ext uri="{FF2B5EF4-FFF2-40B4-BE49-F238E27FC236}">
                <a16:creationId xmlns:a16="http://schemas.microsoft.com/office/drawing/2014/main" id="{634DE0B8-BB67-A226-8482-F56120456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80" y="1756565"/>
            <a:ext cx="1664208" cy="166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63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FE26E-526C-AA1F-15D8-240FE037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6789-B3D0-3C1B-54E7-1D8667E98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we keep generating…?</a:t>
            </a:r>
          </a:p>
        </p:txBody>
      </p:sp>
      <p:pic>
        <p:nvPicPr>
          <p:cNvPr id="11" name="Picture 10" descr="A close up of a cat&#10;&#10;AI-generated content may be incorrect.">
            <a:extLst>
              <a:ext uri="{FF2B5EF4-FFF2-40B4-BE49-F238E27FC236}">
                <a16:creationId xmlns:a16="http://schemas.microsoft.com/office/drawing/2014/main" id="{99B4CBEC-978A-FF84-F085-5E6F95144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035" y="1756565"/>
            <a:ext cx="1661145" cy="16611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461DC5-7CB3-4548-1CA8-28FB88040560}"/>
              </a:ext>
            </a:extLst>
          </p:cNvPr>
          <p:cNvSpPr txBox="1"/>
          <p:nvPr/>
        </p:nvSpPr>
        <p:spPr>
          <a:xfrm>
            <a:off x="311700" y="2387082"/>
            <a:ext cx="2321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rgbClr val="0001FF"/>
                </a:solidFill>
                <a:latin typeface="Comic Sans MS" panose="030F0902030302020204" pitchFamily="66" charset="0"/>
              </a:rPr>
              <a:t>“a photo of a cat”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300EEA-7C25-0D37-D1BA-202251EA9923}"/>
              </a:ext>
            </a:extLst>
          </p:cNvPr>
          <p:cNvCxnSpPr>
            <a:cxnSpLocks/>
          </p:cNvCxnSpPr>
          <p:nvPr/>
        </p:nvCxnSpPr>
        <p:spPr>
          <a:xfrm>
            <a:off x="2741749" y="2571750"/>
            <a:ext cx="836526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t lying on a fur surface&#10;&#10;AI-generated content may be incorrect.">
            <a:extLst>
              <a:ext uri="{FF2B5EF4-FFF2-40B4-BE49-F238E27FC236}">
                <a16:creationId xmlns:a16="http://schemas.microsoft.com/office/drawing/2014/main" id="{B45FFFA4-2A64-84D0-4590-B8AEDFF62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80" y="1756565"/>
            <a:ext cx="1664208" cy="1664208"/>
          </a:xfrm>
          <a:prstGeom prst="rect">
            <a:avLst/>
          </a:prstGeom>
        </p:spPr>
      </p:pic>
      <p:pic>
        <p:nvPicPr>
          <p:cNvPr id="6" name="Picture 5" descr="A close up of a cat&#10;&#10;AI-generated content may be incorrect.">
            <a:extLst>
              <a:ext uri="{FF2B5EF4-FFF2-40B4-BE49-F238E27FC236}">
                <a16:creationId xmlns:a16="http://schemas.microsoft.com/office/drawing/2014/main" id="{78D109B3-9026-352E-1488-4620672BB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325" y="1756565"/>
            <a:ext cx="1664208" cy="166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7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5EE8-0494-0B07-D5BE-F107F567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4A5AF-91B9-FFA7-3DF5-380EA7EFD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we keep generating…?</a:t>
            </a:r>
          </a:p>
        </p:txBody>
      </p:sp>
      <p:pic>
        <p:nvPicPr>
          <p:cNvPr id="11" name="Picture 10" descr="A close up of a cat&#10;&#10;AI-generated content may be incorrect.">
            <a:extLst>
              <a:ext uri="{FF2B5EF4-FFF2-40B4-BE49-F238E27FC236}">
                <a16:creationId xmlns:a16="http://schemas.microsoft.com/office/drawing/2014/main" id="{0F9DDFCC-C2A0-7D88-1DD0-5E1A37074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931" y="1045057"/>
            <a:ext cx="1207008" cy="12070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7F1FC-B5A7-E724-8E1D-C59ECA6D25C3}"/>
              </a:ext>
            </a:extLst>
          </p:cNvPr>
          <p:cNvSpPr txBox="1"/>
          <p:nvPr/>
        </p:nvSpPr>
        <p:spPr>
          <a:xfrm>
            <a:off x="311700" y="2387082"/>
            <a:ext cx="2321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rgbClr val="0001FF"/>
                </a:solidFill>
                <a:latin typeface="Comic Sans MS" panose="030F0902030302020204" pitchFamily="66" charset="0"/>
              </a:rPr>
              <a:t>“a photo of a cat”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FEF6B8A-00AE-A6D2-6A02-97E1B9064960}"/>
              </a:ext>
            </a:extLst>
          </p:cNvPr>
          <p:cNvCxnSpPr>
            <a:cxnSpLocks/>
          </p:cNvCxnSpPr>
          <p:nvPr/>
        </p:nvCxnSpPr>
        <p:spPr>
          <a:xfrm>
            <a:off x="2741749" y="2571750"/>
            <a:ext cx="836526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t lying on a fur surface&#10;&#10;AI-generated content may be incorrect.">
            <a:extLst>
              <a:ext uri="{FF2B5EF4-FFF2-40B4-BE49-F238E27FC236}">
                <a16:creationId xmlns:a16="http://schemas.microsoft.com/office/drawing/2014/main" id="{B25F29AC-5D77-F69A-7551-848BD5144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939" y="1042067"/>
            <a:ext cx="1207008" cy="1207008"/>
          </a:xfrm>
          <a:prstGeom prst="rect">
            <a:avLst/>
          </a:prstGeom>
        </p:spPr>
      </p:pic>
      <p:pic>
        <p:nvPicPr>
          <p:cNvPr id="6" name="Picture 5" descr="A close up of a cat&#10;&#10;AI-generated content may be incorrect.">
            <a:extLst>
              <a:ext uri="{FF2B5EF4-FFF2-40B4-BE49-F238E27FC236}">
                <a16:creationId xmlns:a16="http://schemas.microsoft.com/office/drawing/2014/main" id="{9FEA78AD-A100-0153-58E8-DE1C2DAD6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947" y="1042067"/>
            <a:ext cx="1207008" cy="12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F4771-C92B-F2E6-608D-A87173AAC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5FC8-FADB-4BC5-776D-FA7AB6854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we keep generating…?</a:t>
            </a:r>
          </a:p>
        </p:txBody>
      </p:sp>
      <p:pic>
        <p:nvPicPr>
          <p:cNvPr id="11" name="Picture 10" descr="A close up of a cat&#10;&#10;AI-generated content may be incorrect.">
            <a:extLst>
              <a:ext uri="{FF2B5EF4-FFF2-40B4-BE49-F238E27FC236}">
                <a16:creationId xmlns:a16="http://schemas.microsoft.com/office/drawing/2014/main" id="{0C21382F-5BE6-EBB6-B46F-E12CB4C12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931" y="1045057"/>
            <a:ext cx="1207008" cy="12070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D42C8B-F8DC-DDB2-44F4-C24B7819E48E}"/>
              </a:ext>
            </a:extLst>
          </p:cNvPr>
          <p:cNvSpPr txBox="1"/>
          <p:nvPr/>
        </p:nvSpPr>
        <p:spPr>
          <a:xfrm>
            <a:off x="311700" y="2387082"/>
            <a:ext cx="2321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rgbClr val="0001FF"/>
                </a:solidFill>
                <a:latin typeface="Comic Sans MS" panose="030F0902030302020204" pitchFamily="66" charset="0"/>
              </a:rPr>
              <a:t>“a photo of a cat”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BB2425-31CD-C681-A0DE-63A4193CFDFC}"/>
              </a:ext>
            </a:extLst>
          </p:cNvPr>
          <p:cNvCxnSpPr>
            <a:cxnSpLocks/>
          </p:cNvCxnSpPr>
          <p:nvPr/>
        </p:nvCxnSpPr>
        <p:spPr>
          <a:xfrm>
            <a:off x="2741749" y="2571750"/>
            <a:ext cx="836526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t lying on a fur surface&#10;&#10;AI-generated content may be incorrect.">
            <a:extLst>
              <a:ext uri="{FF2B5EF4-FFF2-40B4-BE49-F238E27FC236}">
                <a16:creationId xmlns:a16="http://schemas.microsoft.com/office/drawing/2014/main" id="{A58F25C1-37FB-3448-E708-88245F25D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939" y="1042067"/>
            <a:ext cx="1207008" cy="1207008"/>
          </a:xfrm>
          <a:prstGeom prst="rect">
            <a:avLst/>
          </a:prstGeom>
        </p:spPr>
      </p:pic>
      <p:pic>
        <p:nvPicPr>
          <p:cNvPr id="6" name="Picture 5" descr="A close up of a cat&#10;&#10;AI-generated content may be incorrect.">
            <a:extLst>
              <a:ext uri="{FF2B5EF4-FFF2-40B4-BE49-F238E27FC236}">
                <a16:creationId xmlns:a16="http://schemas.microsoft.com/office/drawing/2014/main" id="{355A7A58-6E57-81EF-E6BD-6B5B33F160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947" y="1042067"/>
            <a:ext cx="1207008" cy="1207008"/>
          </a:xfrm>
          <a:prstGeom prst="rect">
            <a:avLst/>
          </a:prstGeom>
        </p:spPr>
      </p:pic>
      <p:pic>
        <p:nvPicPr>
          <p:cNvPr id="8" name="Picture 7" descr="A close up of a cat&#10;&#10;AI-generated content may be incorrect.">
            <a:extLst>
              <a:ext uri="{FF2B5EF4-FFF2-40B4-BE49-F238E27FC236}">
                <a16:creationId xmlns:a16="http://schemas.microsoft.com/office/drawing/2014/main" id="{A91AA3E8-D5B7-E4E1-5920-07B3B1D3D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955" y="1042067"/>
            <a:ext cx="1207008" cy="12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69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274D7-EF3A-F237-5F4D-76BAD91BB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E6685-8C93-1271-CD71-1471EAB8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…mode collapse</a:t>
            </a:r>
          </a:p>
        </p:txBody>
      </p:sp>
      <p:pic>
        <p:nvPicPr>
          <p:cNvPr id="11" name="Picture 10" descr="A close up of a cat&#10;&#10;AI-generated content may be incorrect.">
            <a:extLst>
              <a:ext uri="{FF2B5EF4-FFF2-40B4-BE49-F238E27FC236}">
                <a16:creationId xmlns:a16="http://schemas.microsoft.com/office/drawing/2014/main" id="{A66F8811-222F-E943-9A95-A0888BB1F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931" y="1045057"/>
            <a:ext cx="1207008" cy="12070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1668E0-4084-F467-180D-E7EB2B609AAA}"/>
              </a:ext>
            </a:extLst>
          </p:cNvPr>
          <p:cNvSpPr txBox="1"/>
          <p:nvPr/>
        </p:nvSpPr>
        <p:spPr>
          <a:xfrm>
            <a:off x="311700" y="2387082"/>
            <a:ext cx="2321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rgbClr val="0001FF"/>
                </a:solidFill>
                <a:latin typeface="Comic Sans MS" panose="030F0902030302020204" pitchFamily="66" charset="0"/>
              </a:rPr>
              <a:t>“a photo of a cat”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2AFD4C-8DAA-CB15-A4B1-DD23204CDD5A}"/>
              </a:ext>
            </a:extLst>
          </p:cNvPr>
          <p:cNvCxnSpPr>
            <a:cxnSpLocks/>
          </p:cNvCxnSpPr>
          <p:nvPr/>
        </p:nvCxnSpPr>
        <p:spPr>
          <a:xfrm>
            <a:off x="2741749" y="2571750"/>
            <a:ext cx="836526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t lying on a fur surface&#10;&#10;AI-generated content may be incorrect.">
            <a:extLst>
              <a:ext uri="{FF2B5EF4-FFF2-40B4-BE49-F238E27FC236}">
                <a16:creationId xmlns:a16="http://schemas.microsoft.com/office/drawing/2014/main" id="{9959C3DE-ABEE-75C0-F444-5CBDF9610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939" y="1042067"/>
            <a:ext cx="1207008" cy="1207008"/>
          </a:xfrm>
          <a:prstGeom prst="rect">
            <a:avLst/>
          </a:prstGeom>
        </p:spPr>
      </p:pic>
      <p:pic>
        <p:nvPicPr>
          <p:cNvPr id="6" name="Picture 5" descr="A close up of a cat&#10;&#10;AI-generated content may be incorrect.">
            <a:extLst>
              <a:ext uri="{FF2B5EF4-FFF2-40B4-BE49-F238E27FC236}">
                <a16:creationId xmlns:a16="http://schemas.microsoft.com/office/drawing/2014/main" id="{CB6BA0F5-1DCD-E2C4-4C12-AE11F8FEF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947" y="1042067"/>
            <a:ext cx="1207008" cy="1207008"/>
          </a:xfrm>
          <a:prstGeom prst="rect">
            <a:avLst/>
          </a:prstGeom>
        </p:spPr>
      </p:pic>
      <p:pic>
        <p:nvPicPr>
          <p:cNvPr id="8" name="Picture 7" descr="A close up of a cat&#10;&#10;AI-generated content may be incorrect.">
            <a:extLst>
              <a:ext uri="{FF2B5EF4-FFF2-40B4-BE49-F238E27FC236}">
                <a16:creationId xmlns:a16="http://schemas.microsoft.com/office/drawing/2014/main" id="{3A3C6E94-0643-9441-EFD3-AD9D5205D0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955" y="1042067"/>
            <a:ext cx="1207008" cy="1207008"/>
          </a:xfrm>
          <a:prstGeom prst="rect">
            <a:avLst/>
          </a:prstGeom>
        </p:spPr>
      </p:pic>
      <p:pic>
        <p:nvPicPr>
          <p:cNvPr id="9" name="Picture 8" descr="A close up of a cat&#10;&#10;AI-generated content may be incorrect.">
            <a:extLst>
              <a:ext uri="{FF2B5EF4-FFF2-40B4-BE49-F238E27FC236}">
                <a16:creationId xmlns:a16="http://schemas.microsoft.com/office/drawing/2014/main" id="{AB3DC739-41CD-9476-F549-3C5F06F1F0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7931" y="2249075"/>
            <a:ext cx="1207008" cy="1207008"/>
          </a:xfrm>
          <a:prstGeom prst="rect">
            <a:avLst/>
          </a:prstGeom>
        </p:spPr>
      </p:pic>
      <p:pic>
        <p:nvPicPr>
          <p:cNvPr id="7" name="Picture 6" descr="A cat lying on the floor&#10;&#10;AI-generated content may be incorrect.">
            <a:extLst>
              <a:ext uri="{FF2B5EF4-FFF2-40B4-BE49-F238E27FC236}">
                <a16:creationId xmlns:a16="http://schemas.microsoft.com/office/drawing/2014/main" id="{55A81A03-C741-FC05-21F9-36354BEF31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4939" y="2249075"/>
            <a:ext cx="1207008" cy="1207008"/>
          </a:xfrm>
          <a:prstGeom prst="rect">
            <a:avLst/>
          </a:prstGeom>
        </p:spPr>
      </p:pic>
      <p:pic>
        <p:nvPicPr>
          <p:cNvPr id="10" name="Picture 9" descr="A close up of a cat&#10;&#10;AI-generated content may be incorrect.">
            <a:extLst>
              <a:ext uri="{FF2B5EF4-FFF2-40B4-BE49-F238E27FC236}">
                <a16:creationId xmlns:a16="http://schemas.microsoft.com/office/drawing/2014/main" id="{BB2EF013-B905-7D87-F33E-BE9CDCCC94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1947" y="2249075"/>
            <a:ext cx="1207008" cy="1207008"/>
          </a:xfrm>
          <a:prstGeom prst="rect">
            <a:avLst/>
          </a:prstGeom>
        </p:spPr>
      </p:pic>
      <p:pic>
        <p:nvPicPr>
          <p:cNvPr id="12" name="Picture 11" descr="A close up of a cat&#10;&#10;AI-generated content may be incorrect.">
            <a:extLst>
              <a:ext uri="{FF2B5EF4-FFF2-40B4-BE49-F238E27FC236}">
                <a16:creationId xmlns:a16="http://schemas.microsoft.com/office/drawing/2014/main" id="{060DDAFB-7F09-5DD2-B1D0-ED437182CE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8956" y="2249075"/>
            <a:ext cx="1207008" cy="12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59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688EE-5C41-46D7-BD30-5519D8A60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5C34-C57B-2F14-8E47-31DD5B363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…mode collapse</a:t>
            </a:r>
          </a:p>
        </p:txBody>
      </p:sp>
      <p:pic>
        <p:nvPicPr>
          <p:cNvPr id="11" name="Picture 10" descr="A close up of a cat&#10;&#10;AI-generated content may be incorrect.">
            <a:extLst>
              <a:ext uri="{FF2B5EF4-FFF2-40B4-BE49-F238E27FC236}">
                <a16:creationId xmlns:a16="http://schemas.microsoft.com/office/drawing/2014/main" id="{290A840C-FF07-DCB2-07E0-402375787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931" y="1045057"/>
            <a:ext cx="1207008" cy="12070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43C031-9428-201D-E6E2-13847B13CAF5}"/>
              </a:ext>
            </a:extLst>
          </p:cNvPr>
          <p:cNvSpPr txBox="1"/>
          <p:nvPr/>
        </p:nvSpPr>
        <p:spPr>
          <a:xfrm>
            <a:off x="311700" y="2387082"/>
            <a:ext cx="2321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rgbClr val="0001FF"/>
                </a:solidFill>
                <a:latin typeface="Comic Sans MS" panose="030F0902030302020204" pitchFamily="66" charset="0"/>
              </a:rPr>
              <a:t>“a photo of a cat”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3456D87-B8FD-C4F9-10C9-B0E807687B38}"/>
              </a:ext>
            </a:extLst>
          </p:cNvPr>
          <p:cNvCxnSpPr>
            <a:cxnSpLocks/>
          </p:cNvCxnSpPr>
          <p:nvPr/>
        </p:nvCxnSpPr>
        <p:spPr>
          <a:xfrm>
            <a:off x="2741749" y="2571750"/>
            <a:ext cx="836526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t lying on a fur surface&#10;&#10;AI-generated content may be incorrect.">
            <a:extLst>
              <a:ext uri="{FF2B5EF4-FFF2-40B4-BE49-F238E27FC236}">
                <a16:creationId xmlns:a16="http://schemas.microsoft.com/office/drawing/2014/main" id="{9BD8D199-52A9-CD31-FF47-2E4CCCECC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939" y="1042067"/>
            <a:ext cx="1207008" cy="1207008"/>
          </a:xfrm>
          <a:prstGeom prst="rect">
            <a:avLst/>
          </a:prstGeom>
        </p:spPr>
      </p:pic>
      <p:pic>
        <p:nvPicPr>
          <p:cNvPr id="6" name="Picture 5" descr="A close up of a cat&#10;&#10;AI-generated content may be incorrect.">
            <a:extLst>
              <a:ext uri="{FF2B5EF4-FFF2-40B4-BE49-F238E27FC236}">
                <a16:creationId xmlns:a16="http://schemas.microsoft.com/office/drawing/2014/main" id="{117DADD9-F999-66D3-13BD-916490F0B8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947" y="1042067"/>
            <a:ext cx="1207008" cy="1207008"/>
          </a:xfrm>
          <a:prstGeom prst="rect">
            <a:avLst/>
          </a:prstGeom>
        </p:spPr>
      </p:pic>
      <p:pic>
        <p:nvPicPr>
          <p:cNvPr id="8" name="Picture 7" descr="A close up of a cat&#10;&#10;AI-generated content may be incorrect.">
            <a:extLst>
              <a:ext uri="{FF2B5EF4-FFF2-40B4-BE49-F238E27FC236}">
                <a16:creationId xmlns:a16="http://schemas.microsoft.com/office/drawing/2014/main" id="{53D52714-4EEE-C5E6-1309-AD5BEC220A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955" y="1042067"/>
            <a:ext cx="1207008" cy="1207008"/>
          </a:xfrm>
          <a:prstGeom prst="rect">
            <a:avLst/>
          </a:prstGeom>
        </p:spPr>
      </p:pic>
      <p:pic>
        <p:nvPicPr>
          <p:cNvPr id="9" name="Picture 8" descr="A close up of a cat&#10;&#10;AI-generated content may be incorrect.">
            <a:extLst>
              <a:ext uri="{FF2B5EF4-FFF2-40B4-BE49-F238E27FC236}">
                <a16:creationId xmlns:a16="http://schemas.microsoft.com/office/drawing/2014/main" id="{0C9944CD-72AA-AFF1-AC29-DF919B1C37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7931" y="2249075"/>
            <a:ext cx="1207008" cy="1207008"/>
          </a:xfrm>
          <a:prstGeom prst="rect">
            <a:avLst/>
          </a:prstGeom>
        </p:spPr>
      </p:pic>
      <p:pic>
        <p:nvPicPr>
          <p:cNvPr id="7" name="Picture 6" descr="A cat lying on the floor&#10;&#10;AI-generated content may be incorrect.">
            <a:extLst>
              <a:ext uri="{FF2B5EF4-FFF2-40B4-BE49-F238E27FC236}">
                <a16:creationId xmlns:a16="http://schemas.microsoft.com/office/drawing/2014/main" id="{6186F068-6233-A866-D62B-774FA06DAC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4939" y="2249075"/>
            <a:ext cx="1207008" cy="1207008"/>
          </a:xfrm>
          <a:prstGeom prst="rect">
            <a:avLst/>
          </a:prstGeom>
        </p:spPr>
      </p:pic>
      <p:pic>
        <p:nvPicPr>
          <p:cNvPr id="10" name="Picture 9" descr="A close up of a cat&#10;&#10;AI-generated content may be incorrect.">
            <a:extLst>
              <a:ext uri="{FF2B5EF4-FFF2-40B4-BE49-F238E27FC236}">
                <a16:creationId xmlns:a16="http://schemas.microsoft.com/office/drawing/2014/main" id="{09C696D2-FE24-2F42-7D4F-44C8641CCF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1947" y="2249075"/>
            <a:ext cx="1207008" cy="1207008"/>
          </a:xfrm>
          <a:prstGeom prst="rect">
            <a:avLst/>
          </a:prstGeom>
        </p:spPr>
      </p:pic>
      <p:pic>
        <p:nvPicPr>
          <p:cNvPr id="12" name="Picture 11" descr="A close up of a cat&#10;&#10;AI-generated content may be incorrect.">
            <a:extLst>
              <a:ext uri="{FF2B5EF4-FFF2-40B4-BE49-F238E27FC236}">
                <a16:creationId xmlns:a16="http://schemas.microsoft.com/office/drawing/2014/main" id="{514B1651-CD9C-48A6-7C4D-E8036AF01C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8956" y="2249075"/>
            <a:ext cx="1207008" cy="1207008"/>
          </a:xfrm>
          <a:prstGeom prst="rect">
            <a:avLst/>
          </a:prstGeom>
        </p:spPr>
      </p:pic>
      <p:pic>
        <p:nvPicPr>
          <p:cNvPr id="14" name="Picture 13" descr="A close up of a cat&#10;&#10;AI-generated content may be incorrect.">
            <a:extLst>
              <a:ext uri="{FF2B5EF4-FFF2-40B4-BE49-F238E27FC236}">
                <a16:creationId xmlns:a16="http://schemas.microsoft.com/office/drawing/2014/main" id="{26BD6FA9-DEAD-263E-9C23-FF69AC0B93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97931" y="3453093"/>
            <a:ext cx="1207008" cy="1207008"/>
          </a:xfrm>
          <a:prstGeom prst="rect">
            <a:avLst/>
          </a:prstGeom>
        </p:spPr>
      </p:pic>
      <p:pic>
        <p:nvPicPr>
          <p:cNvPr id="16" name="Picture 15" descr="A close up of a cat&#10;&#10;AI-generated content may be incorrect.">
            <a:extLst>
              <a:ext uri="{FF2B5EF4-FFF2-40B4-BE49-F238E27FC236}">
                <a16:creationId xmlns:a16="http://schemas.microsoft.com/office/drawing/2014/main" id="{16029D5F-69E9-2599-2842-61E95884DF1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4939" y="3453093"/>
            <a:ext cx="1207008" cy="1207008"/>
          </a:xfrm>
          <a:prstGeom prst="rect">
            <a:avLst/>
          </a:prstGeom>
        </p:spPr>
      </p:pic>
      <p:pic>
        <p:nvPicPr>
          <p:cNvPr id="18" name="Picture 17" descr="A close up of a cat&#10;&#10;AI-generated content may be incorrect.">
            <a:extLst>
              <a:ext uri="{FF2B5EF4-FFF2-40B4-BE49-F238E27FC236}">
                <a16:creationId xmlns:a16="http://schemas.microsoft.com/office/drawing/2014/main" id="{15BAEC6B-8C95-0322-3C8C-89BCBB75F5E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1947" y="3453093"/>
            <a:ext cx="1207008" cy="1207008"/>
          </a:xfrm>
          <a:prstGeom prst="rect">
            <a:avLst/>
          </a:prstGeom>
        </p:spPr>
      </p:pic>
      <p:pic>
        <p:nvPicPr>
          <p:cNvPr id="21" name="Picture 20" descr="A cat looking at the camera&#10;&#10;AI-generated content may be incorrect.">
            <a:extLst>
              <a:ext uri="{FF2B5EF4-FFF2-40B4-BE49-F238E27FC236}">
                <a16:creationId xmlns:a16="http://schemas.microsoft.com/office/drawing/2014/main" id="{856B9527-E1B0-47D2-0C20-1FA1ED87523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8955" y="3453093"/>
            <a:ext cx="1207008" cy="12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99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A8DA-EBE0-D91C-B1EF-763FAB6D4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recover visual diversity?</a:t>
            </a:r>
          </a:p>
        </p:txBody>
      </p:sp>
    </p:spTree>
    <p:extLst>
      <p:ext uri="{BB962C8B-B14F-4D97-AF65-F5344CB8AC3E}">
        <p14:creationId xmlns:p14="http://schemas.microsoft.com/office/powerpoint/2010/main" val="2910554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C0017-1DE9-13B9-34A4-DCC250AB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033F-AAA9-E3AF-6E5A-82F68227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could select more diverse 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0E61E5-7A0B-8A7A-B91F-0372B2901C39}"/>
              </a:ext>
            </a:extLst>
          </p:cNvPr>
          <p:cNvSpPr txBox="1"/>
          <p:nvPr/>
        </p:nvSpPr>
        <p:spPr>
          <a:xfrm>
            <a:off x="311700" y="2387082"/>
            <a:ext cx="23211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rgbClr val="0001FF"/>
                </a:solidFill>
                <a:latin typeface="Comic Sans MS" panose="030F0902030302020204" pitchFamily="66" charset="0"/>
              </a:rPr>
              <a:t>“a photo of a cat”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048500C-180F-C895-7628-525C40B7150F}"/>
              </a:ext>
            </a:extLst>
          </p:cNvPr>
          <p:cNvCxnSpPr>
            <a:cxnSpLocks/>
          </p:cNvCxnSpPr>
          <p:nvPr/>
        </p:nvCxnSpPr>
        <p:spPr>
          <a:xfrm>
            <a:off x="2741749" y="2571750"/>
            <a:ext cx="836526" cy="0"/>
          </a:xfrm>
          <a:prstGeom prst="straightConnector1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B149CF6-1131-4141-5000-98B40299CEE7}"/>
              </a:ext>
            </a:extLst>
          </p:cNvPr>
          <p:cNvGrpSpPr/>
          <p:nvPr/>
        </p:nvGrpSpPr>
        <p:grpSpPr>
          <a:xfrm>
            <a:off x="3797930" y="1038951"/>
            <a:ext cx="4828034" cy="3621150"/>
            <a:chOff x="3797930" y="1038951"/>
            <a:chExt cx="4828034" cy="362115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745E755-1209-A8F0-BAD0-62D9E12F85A9}"/>
                </a:ext>
              </a:extLst>
            </p:cNvPr>
            <p:cNvGrpSpPr/>
            <p:nvPr/>
          </p:nvGrpSpPr>
          <p:grpSpPr>
            <a:xfrm>
              <a:off x="3797931" y="1042067"/>
              <a:ext cx="4828033" cy="3618034"/>
              <a:chOff x="3797931" y="1042067"/>
              <a:chExt cx="4828033" cy="3618034"/>
            </a:xfrm>
          </p:grpSpPr>
          <p:pic>
            <p:nvPicPr>
              <p:cNvPr id="11" name="Picture 10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BA13B85C-D9AE-2EAD-9414-9F985577C4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7931" y="1045057"/>
                <a:ext cx="1207008" cy="1207008"/>
              </a:xfrm>
              <a:prstGeom prst="rect">
                <a:avLst/>
              </a:prstGeom>
            </p:spPr>
          </p:pic>
          <p:pic>
            <p:nvPicPr>
              <p:cNvPr id="5" name="Picture 4" descr="A cat lying on a fur surface&#10;&#10;AI-generated content may be incorrect.">
                <a:extLst>
                  <a:ext uri="{FF2B5EF4-FFF2-40B4-BE49-F238E27FC236}">
                    <a16:creationId xmlns:a16="http://schemas.microsoft.com/office/drawing/2014/main" id="{F1A0F7F4-B934-7596-CA77-DA72DEDB10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4939" y="1042067"/>
                <a:ext cx="1207008" cy="1207008"/>
              </a:xfrm>
              <a:prstGeom prst="rect">
                <a:avLst/>
              </a:prstGeom>
            </p:spPr>
          </p:pic>
          <p:pic>
            <p:nvPicPr>
              <p:cNvPr id="6" name="Picture 5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3EB8F300-5927-00B8-6DD3-508609A6AD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1947" y="1042067"/>
                <a:ext cx="1207008" cy="1207008"/>
              </a:xfrm>
              <a:prstGeom prst="rect">
                <a:avLst/>
              </a:prstGeom>
            </p:spPr>
          </p:pic>
          <p:pic>
            <p:nvPicPr>
              <p:cNvPr id="8" name="Picture 7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117F4A58-C17D-ECFF-AB22-259819F8E5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18955" y="1042067"/>
                <a:ext cx="1207008" cy="1207008"/>
              </a:xfrm>
              <a:prstGeom prst="rect">
                <a:avLst/>
              </a:prstGeom>
            </p:spPr>
          </p:pic>
          <p:pic>
            <p:nvPicPr>
              <p:cNvPr id="9" name="Picture 8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52853E95-F8C0-61EB-C02C-E5B13B4DCE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97931" y="2249075"/>
                <a:ext cx="1207008" cy="1207008"/>
              </a:xfrm>
              <a:prstGeom prst="rect">
                <a:avLst/>
              </a:prstGeom>
            </p:spPr>
          </p:pic>
          <p:pic>
            <p:nvPicPr>
              <p:cNvPr id="7" name="Picture 6" descr="A cat lying on the floor&#10;&#10;AI-generated content may be incorrect.">
                <a:extLst>
                  <a:ext uri="{FF2B5EF4-FFF2-40B4-BE49-F238E27FC236}">
                    <a16:creationId xmlns:a16="http://schemas.microsoft.com/office/drawing/2014/main" id="{36FC17DF-BA11-B50B-28C5-ADC686D870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04939" y="2249075"/>
                <a:ext cx="1207008" cy="1207008"/>
              </a:xfrm>
              <a:prstGeom prst="rect">
                <a:avLst/>
              </a:prstGeom>
            </p:spPr>
          </p:pic>
          <p:pic>
            <p:nvPicPr>
              <p:cNvPr id="10" name="Picture 9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740CBEA1-C2CE-057A-9D32-C741D5D902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11947" y="2249075"/>
                <a:ext cx="1207008" cy="1207008"/>
              </a:xfrm>
              <a:prstGeom prst="rect">
                <a:avLst/>
              </a:prstGeom>
            </p:spPr>
          </p:pic>
          <p:pic>
            <p:nvPicPr>
              <p:cNvPr id="12" name="Picture 11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8F2B244E-733A-BB71-ED92-04FB6F3228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18956" y="2249075"/>
                <a:ext cx="1207008" cy="1207008"/>
              </a:xfrm>
              <a:prstGeom prst="rect">
                <a:avLst/>
              </a:prstGeom>
            </p:spPr>
          </p:pic>
          <p:pic>
            <p:nvPicPr>
              <p:cNvPr id="14" name="Picture 13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6D880044-482E-30D8-0209-17799C29EE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97931" y="3453093"/>
                <a:ext cx="1207008" cy="1207008"/>
              </a:xfrm>
              <a:prstGeom prst="rect">
                <a:avLst/>
              </a:prstGeom>
            </p:spPr>
          </p:pic>
          <p:pic>
            <p:nvPicPr>
              <p:cNvPr id="16" name="Picture 15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0EB84841-5051-F491-D5DB-E5741CA5E4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04939" y="3453093"/>
                <a:ext cx="1207008" cy="1207008"/>
              </a:xfrm>
              <a:prstGeom prst="rect">
                <a:avLst/>
              </a:prstGeom>
            </p:spPr>
          </p:pic>
          <p:pic>
            <p:nvPicPr>
              <p:cNvPr id="18" name="Picture 17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F4698F9E-924E-745F-DB75-B396A4AB5B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11947" y="3453093"/>
                <a:ext cx="1207008" cy="1207008"/>
              </a:xfrm>
              <a:prstGeom prst="rect">
                <a:avLst/>
              </a:prstGeom>
            </p:spPr>
          </p:pic>
          <p:pic>
            <p:nvPicPr>
              <p:cNvPr id="21" name="Picture 20" descr="A cat looking at the camera&#10;&#10;AI-generated content may be incorrect.">
                <a:extLst>
                  <a:ext uri="{FF2B5EF4-FFF2-40B4-BE49-F238E27FC236}">
                    <a16:creationId xmlns:a16="http://schemas.microsoft.com/office/drawing/2014/main" id="{AC7B7F05-60D8-F84E-CE69-35B8348570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18955" y="3453093"/>
                <a:ext cx="1207008" cy="1207008"/>
              </a:xfrm>
              <a:prstGeom prst="rect">
                <a:avLst/>
              </a:prstGeom>
            </p:spPr>
          </p:pic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EF399C-BFA7-6A57-609E-3CDEF1E5F71F}"/>
                </a:ext>
              </a:extLst>
            </p:cNvPr>
            <p:cNvSpPr/>
            <p:nvPr/>
          </p:nvSpPr>
          <p:spPr>
            <a:xfrm>
              <a:off x="6211947" y="1038951"/>
              <a:ext cx="1207008" cy="1207008"/>
            </a:xfrm>
            <a:prstGeom prst="rect">
              <a:avLst/>
            </a:prstGeom>
            <a:noFill/>
            <a:ln w="38100">
              <a:solidFill>
                <a:srgbClr val="05966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8957FEC-F867-8776-52D5-14E22BC38F94}"/>
                </a:ext>
              </a:extLst>
            </p:cNvPr>
            <p:cNvSpPr/>
            <p:nvPr/>
          </p:nvSpPr>
          <p:spPr>
            <a:xfrm>
              <a:off x="5004938" y="2236967"/>
              <a:ext cx="1207008" cy="1207008"/>
            </a:xfrm>
            <a:prstGeom prst="rect">
              <a:avLst/>
            </a:prstGeom>
            <a:noFill/>
            <a:ln w="38100">
              <a:solidFill>
                <a:srgbClr val="D977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A51155-3209-4649-42BF-8D24F9ACA9F5}"/>
                </a:ext>
              </a:extLst>
            </p:cNvPr>
            <p:cNvSpPr/>
            <p:nvPr/>
          </p:nvSpPr>
          <p:spPr>
            <a:xfrm>
              <a:off x="3797930" y="2236967"/>
              <a:ext cx="1207008" cy="1207008"/>
            </a:xfrm>
            <a:prstGeom prst="rect">
              <a:avLst/>
            </a:prstGeom>
            <a:noFill/>
            <a:ln w="38100">
              <a:solidFill>
                <a:srgbClr val="7C3A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2FE7D500-D665-EE30-2C77-E7441B1FBD0B}"/>
              </a:ext>
            </a:extLst>
          </p:cNvPr>
          <p:cNvSpPr/>
          <p:nvPr/>
        </p:nvSpPr>
        <p:spPr>
          <a:xfrm>
            <a:off x="7418954" y="3447334"/>
            <a:ext cx="1207008" cy="1207008"/>
          </a:xfrm>
          <a:prstGeom prst="rect">
            <a:avLst/>
          </a:prstGeom>
          <a:noFill/>
          <a:ln w="38100">
            <a:solidFill>
              <a:srgbClr val="BE1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72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94AC0-319C-75E1-8CB4-ACE50EDD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FB06-F6E4-F4BC-E754-0E5A6FC7A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Group Inference (Parmar et al. 2025)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88E905B-10E3-EA74-C1C5-7B3EA7EEEAD2}"/>
              </a:ext>
            </a:extLst>
          </p:cNvPr>
          <p:cNvGrpSpPr/>
          <p:nvPr/>
        </p:nvGrpSpPr>
        <p:grpSpPr>
          <a:xfrm>
            <a:off x="1520621" y="2337206"/>
            <a:ext cx="2529304" cy="2522811"/>
            <a:chOff x="784127" y="2445929"/>
            <a:chExt cx="2529304" cy="2522811"/>
          </a:xfrm>
        </p:grpSpPr>
        <p:pic>
          <p:nvPicPr>
            <p:cNvPr id="6" name="Picture 5" descr="A close up of a cat&#10;&#10;AI-generated content may be incorrect.">
              <a:extLst>
                <a:ext uri="{FF2B5EF4-FFF2-40B4-BE49-F238E27FC236}">
                  <a16:creationId xmlns:a16="http://schemas.microsoft.com/office/drawing/2014/main" id="{E84D5B78-B063-86F0-77D8-F288C0C44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1700" y="3761732"/>
              <a:ext cx="1207008" cy="1207008"/>
            </a:xfrm>
            <a:prstGeom prst="rect">
              <a:avLst/>
            </a:prstGeom>
          </p:spPr>
        </p:pic>
        <p:pic>
          <p:nvPicPr>
            <p:cNvPr id="9" name="Picture 8" descr="A close up of a cat&#10;&#10;AI-generated content may be incorrect.">
              <a:extLst>
                <a:ext uri="{FF2B5EF4-FFF2-40B4-BE49-F238E27FC236}">
                  <a16:creationId xmlns:a16="http://schemas.microsoft.com/office/drawing/2014/main" id="{F8C3E40D-FA8F-8ED7-F7D5-69058ECCA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127" y="2445929"/>
              <a:ext cx="1207008" cy="1207008"/>
            </a:xfrm>
            <a:prstGeom prst="rect">
              <a:avLst/>
            </a:prstGeom>
          </p:spPr>
        </p:pic>
        <p:pic>
          <p:nvPicPr>
            <p:cNvPr id="7" name="Picture 6" descr="A cat lying on the floor&#10;&#10;AI-generated content may be incorrect.">
              <a:extLst>
                <a:ext uri="{FF2B5EF4-FFF2-40B4-BE49-F238E27FC236}">
                  <a16:creationId xmlns:a16="http://schemas.microsoft.com/office/drawing/2014/main" id="{077A6325-238A-7893-6565-8AB465C79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90499" y="2445929"/>
              <a:ext cx="1207008" cy="1207008"/>
            </a:xfrm>
            <a:prstGeom prst="rect">
              <a:avLst/>
            </a:prstGeom>
          </p:spPr>
        </p:pic>
        <p:pic>
          <p:nvPicPr>
            <p:cNvPr id="21" name="Picture 20" descr="A cat looking at the camera&#10;&#10;AI-generated content may be incorrect.">
              <a:extLst>
                <a:ext uri="{FF2B5EF4-FFF2-40B4-BE49-F238E27FC236}">
                  <a16:creationId xmlns:a16="http://schemas.microsoft.com/office/drawing/2014/main" id="{6BAEE4A8-80D2-5EB4-6110-B7E9D96F3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06423" y="3761732"/>
              <a:ext cx="1207008" cy="1207008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159FBD-8F7B-73F0-63F3-63ED57A189B0}"/>
                </a:ext>
              </a:extLst>
            </p:cNvPr>
            <p:cNvSpPr/>
            <p:nvPr/>
          </p:nvSpPr>
          <p:spPr>
            <a:xfrm>
              <a:off x="794298" y="3761732"/>
              <a:ext cx="1207008" cy="1207008"/>
            </a:xfrm>
            <a:prstGeom prst="rect">
              <a:avLst/>
            </a:prstGeom>
            <a:noFill/>
            <a:ln w="38100">
              <a:solidFill>
                <a:srgbClr val="05966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1DBAB80-676B-AE94-5A8D-B944526F1AE3}"/>
                </a:ext>
              </a:extLst>
            </p:cNvPr>
            <p:cNvSpPr/>
            <p:nvPr/>
          </p:nvSpPr>
          <p:spPr>
            <a:xfrm>
              <a:off x="2090511" y="2445929"/>
              <a:ext cx="1207008" cy="1207008"/>
            </a:xfrm>
            <a:prstGeom prst="rect">
              <a:avLst/>
            </a:prstGeom>
            <a:noFill/>
            <a:ln w="38100">
              <a:solidFill>
                <a:srgbClr val="D977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8B1FE01-68F7-4425-1238-3812D5D8BF20}"/>
                </a:ext>
              </a:extLst>
            </p:cNvPr>
            <p:cNvSpPr/>
            <p:nvPr/>
          </p:nvSpPr>
          <p:spPr>
            <a:xfrm>
              <a:off x="794298" y="2445929"/>
              <a:ext cx="1207008" cy="1207008"/>
            </a:xfrm>
            <a:prstGeom prst="rect">
              <a:avLst/>
            </a:prstGeom>
            <a:noFill/>
            <a:ln w="38100">
              <a:solidFill>
                <a:srgbClr val="7C3A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124F711-1F74-663A-86B1-77DE99AF9333}"/>
                </a:ext>
              </a:extLst>
            </p:cNvPr>
            <p:cNvSpPr/>
            <p:nvPr/>
          </p:nvSpPr>
          <p:spPr>
            <a:xfrm>
              <a:off x="2091620" y="3761732"/>
              <a:ext cx="1207008" cy="1207008"/>
            </a:xfrm>
            <a:prstGeom prst="rect">
              <a:avLst/>
            </a:prstGeom>
            <a:noFill/>
            <a:ln w="38100">
              <a:solidFill>
                <a:srgbClr val="BE12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81EB5B2-3C69-BD50-DDA2-4124EA9E8090}"/>
              </a:ext>
            </a:extLst>
          </p:cNvPr>
          <p:cNvGrpSpPr/>
          <p:nvPr/>
        </p:nvGrpSpPr>
        <p:grpSpPr>
          <a:xfrm>
            <a:off x="5531085" y="2337206"/>
            <a:ext cx="2509898" cy="2522811"/>
            <a:chOff x="4823514" y="1226729"/>
            <a:chExt cx="2509898" cy="252281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73FF122-A2F9-12B6-626C-22A8B6B0A731}"/>
                </a:ext>
              </a:extLst>
            </p:cNvPr>
            <p:cNvGrpSpPr/>
            <p:nvPr/>
          </p:nvGrpSpPr>
          <p:grpSpPr>
            <a:xfrm>
              <a:off x="4828674" y="1226729"/>
              <a:ext cx="1207008" cy="1207008"/>
              <a:chOff x="3531204" y="1261076"/>
              <a:chExt cx="1207008" cy="1207008"/>
            </a:xfrm>
          </p:grpSpPr>
          <p:pic>
            <p:nvPicPr>
              <p:cNvPr id="10" name="Picture 9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5142FB4F-CD48-B55E-4112-C955A8FAB4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31204" y="1261076"/>
                <a:ext cx="1207008" cy="1207008"/>
              </a:xfrm>
              <a:prstGeom prst="rect">
                <a:avLst/>
              </a:prstGeom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DAED4F0-D8D0-31F8-E4FD-A0CCA09923C5}"/>
                  </a:ext>
                </a:extLst>
              </p:cNvPr>
              <p:cNvSpPr/>
              <p:nvPr/>
            </p:nvSpPr>
            <p:spPr>
              <a:xfrm>
                <a:off x="3531204" y="1261076"/>
                <a:ext cx="1207008" cy="1207008"/>
              </a:xfrm>
              <a:prstGeom prst="rect">
                <a:avLst/>
              </a:prstGeom>
              <a:noFill/>
              <a:ln w="38100">
                <a:solidFill>
                  <a:srgbClr val="000000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6F8CC67-748C-3014-5D73-DADA6CE7E045}"/>
                </a:ext>
              </a:extLst>
            </p:cNvPr>
            <p:cNvGrpSpPr/>
            <p:nvPr/>
          </p:nvGrpSpPr>
          <p:grpSpPr>
            <a:xfrm>
              <a:off x="6124863" y="1226729"/>
              <a:ext cx="1208549" cy="1207008"/>
              <a:chOff x="4825864" y="1261076"/>
              <a:chExt cx="1208549" cy="1207008"/>
            </a:xfrm>
          </p:grpSpPr>
          <p:pic>
            <p:nvPicPr>
              <p:cNvPr id="8" name="Picture 7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97E8CD08-24FB-3ADE-A939-7792CBEC76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25864" y="1261076"/>
                <a:ext cx="1207008" cy="1207008"/>
              </a:xfrm>
              <a:prstGeom prst="rect">
                <a:avLst/>
              </a:prstGeom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A450D0B-8104-D0B5-4323-974D3FFA0245}"/>
                  </a:ext>
                </a:extLst>
              </p:cNvPr>
              <p:cNvSpPr/>
              <p:nvPr/>
            </p:nvSpPr>
            <p:spPr>
              <a:xfrm>
                <a:off x="4827405" y="1261076"/>
                <a:ext cx="1207008" cy="1207008"/>
              </a:xfrm>
              <a:prstGeom prst="rect">
                <a:avLst/>
              </a:prstGeom>
              <a:noFill/>
              <a:ln w="38100">
                <a:solidFill>
                  <a:srgbClr val="000000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F75DB53-6F33-3FD9-38BF-73AC038058BC}"/>
                </a:ext>
              </a:extLst>
            </p:cNvPr>
            <p:cNvGrpSpPr/>
            <p:nvPr/>
          </p:nvGrpSpPr>
          <p:grpSpPr>
            <a:xfrm>
              <a:off x="4823514" y="2542532"/>
              <a:ext cx="1207008" cy="1207008"/>
              <a:chOff x="3531204" y="2542532"/>
              <a:chExt cx="1207008" cy="1207008"/>
            </a:xfrm>
          </p:grpSpPr>
          <p:pic>
            <p:nvPicPr>
              <p:cNvPr id="11" name="Picture 10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1D69367D-D5B9-F2FD-EB74-C242900C3D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31204" y="2542532"/>
                <a:ext cx="1207008" cy="1207008"/>
              </a:xfrm>
              <a:prstGeom prst="rect">
                <a:avLst/>
              </a:prstGeom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D0427E1-30EC-7551-0BA4-46E8CE9C0B3B}"/>
                  </a:ext>
                </a:extLst>
              </p:cNvPr>
              <p:cNvSpPr/>
              <p:nvPr/>
            </p:nvSpPr>
            <p:spPr>
              <a:xfrm>
                <a:off x="3531204" y="2542532"/>
                <a:ext cx="1207008" cy="1207008"/>
              </a:xfrm>
              <a:prstGeom prst="rect">
                <a:avLst/>
              </a:prstGeom>
              <a:noFill/>
              <a:ln w="38100">
                <a:solidFill>
                  <a:srgbClr val="000000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DADF548-0FFC-874F-7E8A-40159E2DAE53}"/>
                </a:ext>
              </a:extLst>
            </p:cNvPr>
            <p:cNvGrpSpPr/>
            <p:nvPr/>
          </p:nvGrpSpPr>
          <p:grpSpPr>
            <a:xfrm>
              <a:off x="6124863" y="2542532"/>
              <a:ext cx="1207008" cy="1207008"/>
              <a:chOff x="4847379" y="2542532"/>
              <a:chExt cx="1207008" cy="1207008"/>
            </a:xfrm>
          </p:grpSpPr>
          <p:pic>
            <p:nvPicPr>
              <p:cNvPr id="12" name="Picture 11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991843B6-0D12-CE3B-7D63-54320B066A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47379" y="2542532"/>
                <a:ext cx="1207008" cy="1207008"/>
              </a:xfrm>
              <a:prstGeom prst="rect">
                <a:avLst/>
              </a:prstGeom>
            </p:spPr>
          </p:pic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7F65FB2-0A00-6647-A05B-2429451C08B1}"/>
                  </a:ext>
                </a:extLst>
              </p:cNvPr>
              <p:cNvSpPr/>
              <p:nvPr/>
            </p:nvSpPr>
            <p:spPr>
              <a:xfrm>
                <a:off x="4847379" y="2542532"/>
                <a:ext cx="1207008" cy="1207008"/>
              </a:xfrm>
              <a:prstGeom prst="rect">
                <a:avLst/>
              </a:prstGeom>
              <a:noFill/>
              <a:ln w="38100">
                <a:solidFill>
                  <a:srgbClr val="000000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12AA26E-2556-8650-B540-37B6DE247748}"/>
              </a:ext>
            </a:extLst>
          </p:cNvPr>
          <p:cNvGrpSpPr/>
          <p:nvPr/>
        </p:nvGrpSpPr>
        <p:grpSpPr>
          <a:xfrm>
            <a:off x="394349" y="1352654"/>
            <a:ext cx="858254" cy="749930"/>
            <a:chOff x="5890725" y="4288252"/>
            <a:chExt cx="858254" cy="749930"/>
          </a:xfrm>
        </p:grpSpPr>
        <p:sp>
          <p:nvSpPr>
            <p:cNvPr id="42" name="Trapezoid 41">
              <a:extLst>
                <a:ext uri="{FF2B5EF4-FFF2-40B4-BE49-F238E27FC236}">
                  <a16:creationId xmlns:a16="http://schemas.microsoft.com/office/drawing/2014/main" id="{2B775DFC-38BC-8C5B-3986-3C10D1616853}"/>
                </a:ext>
              </a:extLst>
            </p:cNvPr>
            <p:cNvSpPr/>
            <p:nvPr/>
          </p:nvSpPr>
          <p:spPr>
            <a:xfrm rot="5400000">
              <a:off x="5944887" y="4234090"/>
              <a:ext cx="749930" cy="858254"/>
            </a:xfrm>
            <a:prstGeom prst="trapezoid">
              <a:avLst/>
            </a:prstGeom>
            <a:solidFill>
              <a:srgbClr val="000000">
                <a:alpha val="9804"/>
              </a:srgbClr>
            </a:solidFill>
            <a:ln>
              <a:solidFill>
                <a:srgbClr val="000000">
                  <a:alpha val="30398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FB20AE4-DF9E-2004-7A93-A8836FE5767D}"/>
                </a:ext>
              </a:extLst>
            </p:cNvPr>
            <p:cNvSpPr txBox="1"/>
            <p:nvPr/>
          </p:nvSpPr>
          <p:spPr>
            <a:xfrm>
              <a:off x="5936985" y="4485052"/>
              <a:ext cx="8119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DINO</a:t>
              </a:r>
            </a:p>
          </p:txBody>
        </p:sp>
      </p:grpSp>
      <p:pic>
        <p:nvPicPr>
          <p:cNvPr id="47" name="Picture 46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4AD68FDA-7D1C-3ABF-8BB4-810825EDCD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9453" y="1270124"/>
            <a:ext cx="1716694" cy="91498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AE2C561E-390B-5FA8-46FD-8A680FA96555}"/>
              </a:ext>
            </a:extLst>
          </p:cNvPr>
          <p:cNvSpPr txBox="1"/>
          <p:nvPr/>
        </p:nvSpPr>
        <p:spPr>
          <a:xfrm>
            <a:off x="4090242" y="1303858"/>
            <a:ext cx="12954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dissimilarity score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01E06D5-6D69-FF21-0CDF-4B7C4EBFD829}"/>
              </a:ext>
            </a:extLst>
          </p:cNvPr>
          <p:cNvCxnSpPr/>
          <p:nvPr/>
        </p:nvCxnSpPr>
        <p:spPr>
          <a:xfrm>
            <a:off x="1338943" y="1718731"/>
            <a:ext cx="4463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41B1E290-F656-E592-013B-FD9D1D3333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79745" y="1313422"/>
            <a:ext cx="1716694" cy="91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12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5EFF38B-3186-11EE-EF9E-E588354FC7C4}"/>
              </a:ext>
            </a:extLst>
          </p:cNvPr>
          <p:cNvGrpSpPr/>
          <p:nvPr/>
        </p:nvGrpSpPr>
        <p:grpSpPr>
          <a:xfrm>
            <a:off x="3921592" y="1950478"/>
            <a:ext cx="1753463" cy="1555755"/>
            <a:chOff x="3441962" y="1999621"/>
            <a:chExt cx="1901088" cy="1661144"/>
          </a:xfrm>
        </p:grpSpPr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D21161EC-5559-8272-F678-B9B9927A6C7E}"/>
                </a:ext>
              </a:extLst>
            </p:cNvPr>
            <p:cNvSpPr/>
            <p:nvPr/>
          </p:nvSpPr>
          <p:spPr>
            <a:xfrm rot="16200000">
              <a:off x="3561934" y="1879649"/>
              <a:ext cx="1661144" cy="1901088"/>
            </a:xfrm>
            <a:prstGeom prst="trapezoid">
              <a:avLst/>
            </a:prstGeom>
            <a:solidFill>
              <a:srgbClr val="D9E3EF"/>
            </a:solidFill>
            <a:ln cap="rnd">
              <a:solidFill>
                <a:srgbClr val="D9E3E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0120871-9FA9-2E1A-38F4-5A93D8848EF5}"/>
                </a:ext>
              </a:extLst>
            </p:cNvPr>
            <p:cNvSpPr txBox="1"/>
            <p:nvPr/>
          </p:nvSpPr>
          <p:spPr>
            <a:xfrm>
              <a:off x="3473081" y="2645526"/>
              <a:ext cx="1838850" cy="358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4B5BD01-BBC6-4DA7-10D7-7FC9DE06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 do we have?</a:t>
            </a:r>
          </a:p>
        </p:txBody>
      </p:sp>
      <p:pic>
        <p:nvPicPr>
          <p:cNvPr id="4" name="Picture 3" descr="A close up of a cat&#10;&#10;AI-generated content may be incorrect.">
            <a:extLst>
              <a:ext uri="{FF2B5EF4-FFF2-40B4-BE49-F238E27FC236}">
                <a16:creationId xmlns:a16="http://schemas.microsoft.com/office/drawing/2014/main" id="{8189F5D4-8513-38B6-3157-A96C963FA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313" y="1926068"/>
            <a:ext cx="1661145" cy="166114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334B3AF-333E-F46D-60C9-BFB6E95F06A9}"/>
              </a:ext>
            </a:extLst>
          </p:cNvPr>
          <p:cNvGrpSpPr/>
          <p:nvPr/>
        </p:nvGrpSpPr>
        <p:grpSpPr>
          <a:xfrm>
            <a:off x="378780" y="1599476"/>
            <a:ext cx="2321169" cy="2314327"/>
            <a:chOff x="214997" y="1577591"/>
            <a:chExt cx="2321169" cy="2314327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FB2186D-8345-508E-65B5-2137FA611A99}"/>
                </a:ext>
              </a:extLst>
            </p:cNvPr>
            <p:cNvSpPr/>
            <p:nvPr/>
          </p:nvSpPr>
          <p:spPr>
            <a:xfrm>
              <a:off x="214997" y="1577591"/>
              <a:ext cx="2321169" cy="2314327"/>
            </a:xfrm>
            <a:prstGeom prst="roundRect">
              <a:avLst/>
            </a:prstGeom>
            <a:solidFill>
              <a:schemeClr val="bg1">
                <a:lumMod val="75000"/>
                <a:alpha val="30362"/>
              </a:schemeClr>
            </a:solidFill>
            <a:ln>
              <a:solidFill>
                <a:schemeClr val="bg1">
                  <a:lumMod val="75000"/>
                  <a:alpha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BE6C684-A988-B76F-EFB3-356961B6C11C}"/>
                </a:ext>
              </a:extLst>
            </p:cNvPr>
            <p:cNvSpPr txBox="1"/>
            <p:nvPr/>
          </p:nvSpPr>
          <p:spPr>
            <a:xfrm>
              <a:off x="214997" y="1686946"/>
              <a:ext cx="23211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01FF"/>
                  </a:solidFill>
                  <a:latin typeface="Comic Sans MS" panose="030F0902030302020204" pitchFamily="66" charset="0"/>
                </a:rPr>
                <a:t>“a photo of a cat”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66E568-0B90-A185-0E3A-71C52949F600}"/>
              </a:ext>
            </a:extLst>
          </p:cNvPr>
          <p:cNvCxnSpPr/>
          <p:nvPr/>
        </p:nvCxnSpPr>
        <p:spPr>
          <a:xfrm>
            <a:off x="2925947" y="2756641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731942-F7B2-34B9-A795-5081032AD9B6}"/>
              </a:ext>
            </a:extLst>
          </p:cNvPr>
          <p:cNvCxnSpPr/>
          <p:nvPr/>
        </p:nvCxnSpPr>
        <p:spPr>
          <a:xfrm>
            <a:off x="5932172" y="2763246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close-up of a pixelated screen&#10;&#10;AI-generated content may be incorrect.">
            <a:extLst>
              <a:ext uri="{FF2B5EF4-FFF2-40B4-BE49-F238E27FC236}">
                <a16:creationId xmlns:a16="http://schemas.microsoft.com/office/drawing/2014/main" id="{4CD16163-3513-AB05-BC7D-B9BA03F4A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64" y="2164813"/>
            <a:ext cx="1422400" cy="1422400"/>
          </a:xfrm>
          <a:prstGeom prst="rect">
            <a:avLst/>
          </a:prstGeom>
        </p:spPr>
      </p:pic>
      <p:sp>
        <p:nvSpPr>
          <p:cNvPr id="14" name="Graphic 12" descr="Refresh with solid fill">
            <a:extLst>
              <a:ext uri="{FF2B5EF4-FFF2-40B4-BE49-F238E27FC236}">
                <a16:creationId xmlns:a16="http://schemas.microsoft.com/office/drawing/2014/main" id="{19AA1519-4C9D-8299-41C3-BBD5887160DF}"/>
              </a:ext>
            </a:extLst>
          </p:cNvPr>
          <p:cNvSpPr/>
          <p:nvPr/>
        </p:nvSpPr>
        <p:spPr>
          <a:xfrm>
            <a:off x="4563240" y="3176058"/>
            <a:ext cx="445982" cy="484209"/>
          </a:xfrm>
          <a:custGeom>
            <a:avLst/>
            <a:gdLst>
              <a:gd name="csX0" fmla="*/ 666750 w 666750"/>
              <a:gd name="csY0" fmla="*/ 228600 h 723900"/>
              <a:gd name="csX1" fmla="*/ 666750 w 666750"/>
              <a:gd name="csY1" fmla="*/ 28575 h 723900"/>
              <a:gd name="csX2" fmla="*/ 602933 w 666750"/>
              <a:gd name="csY2" fmla="*/ 92393 h 723900"/>
              <a:gd name="csX3" fmla="*/ 361950 w 666750"/>
              <a:gd name="csY3" fmla="*/ 0 h 723900"/>
              <a:gd name="csX4" fmla="*/ 0 w 666750"/>
              <a:gd name="csY4" fmla="*/ 361950 h 723900"/>
              <a:gd name="csX5" fmla="*/ 361950 w 666750"/>
              <a:gd name="csY5" fmla="*/ 723900 h 723900"/>
              <a:gd name="csX6" fmla="*/ 618173 w 666750"/>
              <a:gd name="csY6" fmla="*/ 618173 h 723900"/>
              <a:gd name="csX7" fmla="*/ 537210 w 666750"/>
              <a:gd name="csY7" fmla="*/ 537210 h 723900"/>
              <a:gd name="csX8" fmla="*/ 361950 w 666750"/>
              <a:gd name="csY8" fmla="*/ 609600 h 723900"/>
              <a:gd name="csX9" fmla="*/ 114300 w 666750"/>
              <a:gd name="csY9" fmla="*/ 361950 h 723900"/>
              <a:gd name="csX10" fmla="*/ 361950 w 666750"/>
              <a:gd name="csY10" fmla="*/ 114300 h 723900"/>
              <a:gd name="csX11" fmla="*/ 521970 w 666750"/>
              <a:gd name="csY11" fmla="*/ 173355 h 723900"/>
              <a:gd name="csX12" fmla="*/ 466725 w 666750"/>
              <a:gd name="csY12" fmla="*/ 228600 h 723900"/>
              <a:gd name="csX13" fmla="*/ 666750 w 666750"/>
              <a:gd name="csY13" fmla="*/ 228600 h 723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66750" h="723900">
                <a:moveTo>
                  <a:pt x="666750" y="228600"/>
                </a:moveTo>
                <a:lnTo>
                  <a:pt x="666750" y="28575"/>
                </a:lnTo>
                <a:lnTo>
                  <a:pt x="602933" y="92393"/>
                </a:lnTo>
                <a:cubicBezTo>
                  <a:pt x="539115" y="35243"/>
                  <a:pt x="454343" y="0"/>
                  <a:pt x="361950" y="0"/>
                </a:cubicBez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461963" y="723900"/>
                  <a:pt x="552450" y="682943"/>
                  <a:pt x="618173" y="618173"/>
                </a:cubicBezTo>
                <a:lnTo>
                  <a:pt x="537210" y="537210"/>
                </a:lnTo>
                <a:cubicBezTo>
                  <a:pt x="492443" y="581978"/>
                  <a:pt x="430530" y="609600"/>
                  <a:pt x="361950" y="609600"/>
                </a:cubicBezTo>
                <a:cubicBezTo>
                  <a:pt x="225743" y="609600"/>
                  <a:pt x="114300" y="498158"/>
                  <a:pt x="114300" y="361950"/>
                </a:cubicBezTo>
                <a:cubicBezTo>
                  <a:pt x="114300" y="225743"/>
                  <a:pt x="225743" y="114300"/>
                  <a:pt x="361950" y="114300"/>
                </a:cubicBezTo>
                <a:cubicBezTo>
                  <a:pt x="422910" y="114300"/>
                  <a:pt x="479108" y="136208"/>
                  <a:pt x="521970" y="173355"/>
                </a:cubicBezTo>
                <a:lnTo>
                  <a:pt x="466725" y="228600"/>
                </a:lnTo>
                <a:lnTo>
                  <a:pt x="666750" y="228600"/>
                </a:lnTo>
                <a:close/>
              </a:path>
            </a:pathLst>
          </a:custGeom>
          <a:solidFill>
            <a:srgbClr val="000000">
              <a:alpha val="80123"/>
            </a:srgb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BD42F-254F-D74E-9DEC-BEC994844A52}"/>
              </a:ext>
            </a:extLst>
          </p:cNvPr>
          <p:cNvSpPr txBox="1"/>
          <p:nvPr/>
        </p:nvSpPr>
        <p:spPr>
          <a:xfrm>
            <a:off x="4059044" y="3821965"/>
            <a:ext cx="161601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 steps…</a:t>
            </a:r>
          </a:p>
        </p:txBody>
      </p:sp>
    </p:spTree>
    <p:extLst>
      <p:ext uri="{BB962C8B-B14F-4D97-AF65-F5344CB8AC3E}">
        <p14:creationId xmlns:p14="http://schemas.microsoft.com/office/powerpoint/2010/main" val="88332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380C4-08CD-287C-94C3-3DBA87B8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1FC0BBD-5F8D-8DD9-5D1D-E0CE020B226C}"/>
              </a:ext>
            </a:extLst>
          </p:cNvPr>
          <p:cNvGrpSpPr/>
          <p:nvPr/>
        </p:nvGrpSpPr>
        <p:grpSpPr>
          <a:xfrm>
            <a:off x="3921592" y="1950478"/>
            <a:ext cx="1753463" cy="1555755"/>
            <a:chOff x="3441962" y="1999621"/>
            <a:chExt cx="1901088" cy="1661144"/>
          </a:xfrm>
        </p:grpSpPr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634B499A-6CFB-5649-3043-DE3D4CD3DFD8}"/>
                </a:ext>
              </a:extLst>
            </p:cNvPr>
            <p:cNvSpPr/>
            <p:nvPr/>
          </p:nvSpPr>
          <p:spPr>
            <a:xfrm rot="16200000">
              <a:off x="3561934" y="1879649"/>
              <a:ext cx="1661144" cy="1901088"/>
            </a:xfrm>
            <a:prstGeom prst="trapezoid">
              <a:avLst/>
            </a:prstGeom>
            <a:solidFill>
              <a:srgbClr val="D9E3EF"/>
            </a:solidFill>
            <a:ln cap="rnd">
              <a:solidFill>
                <a:srgbClr val="D9E3E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7C352C6-6474-D06C-AA25-50479FF9C53C}"/>
                </a:ext>
              </a:extLst>
            </p:cNvPr>
            <p:cNvSpPr txBox="1"/>
            <p:nvPr/>
          </p:nvSpPr>
          <p:spPr>
            <a:xfrm>
              <a:off x="3473081" y="2645526"/>
              <a:ext cx="1838850" cy="358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7A7C84-8AB8-BDA3-A920-9D81CEAC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 do we have?</a:t>
            </a:r>
          </a:p>
        </p:txBody>
      </p:sp>
      <p:pic>
        <p:nvPicPr>
          <p:cNvPr id="4" name="Picture 3" descr="A close up of a cat&#10;&#10;AI-generated content may be incorrect.">
            <a:extLst>
              <a:ext uri="{FF2B5EF4-FFF2-40B4-BE49-F238E27FC236}">
                <a16:creationId xmlns:a16="http://schemas.microsoft.com/office/drawing/2014/main" id="{DA29EEDA-7382-DEF3-8A20-BE9DB0890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313" y="1926068"/>
            <a:ext cx="1661145" cy="166114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DDC0295-7A11-6E0E-D2E9-368C0EE1E94E}"/>
              </a:ext>
            </a:extLst>
          </p:cNvPr>
          <p:cNvGrpSpPr/>
          <p:nvPr/>
        </p:nvGrpSpPr>
        <p:grpSpPr>
          <a:xfrm>
            <a:off x="378780" y="1599476"/>
            <a:ext cx="2321169" cy="2314327"/>
            <a:chOff x="214997" y="1577591"/>
            <a:chExt cx="2321169" cy="2314327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39BD742-2611-06E6-D546-C0FE81CE3A9D}"/>
                </a:ext>
              </a:extLst>
            </p:cNvPr>
            <p:cNvSpPr/>
            <p:nvPr/>
          </p:nvSpPr>
          <p:spPr>
            <a:xfrm>
              <a:off x="214997" y="1577591"/>
              <a:ext cx="2321169" cy="2314327"/>
            </a:xfrm>
            <a:prstGeom prst="roundRect">
              <a:avLst/>
            </a:prstGeom>
            <a:solidFill>
              <a:schemeClr val="bg1">
                <a:lumMod val="75000"/>
                <a:alpha val="30362"/>
              </a:schemeClr>
            </a:solidFill>
            <a:ln>
              <a:solidFill>
                <a:schemeClr val="bg1">
                  <a:lumMod val="75000"/>
                  <a:alpha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B8F48A-5640-8561-BE4E-2EFF47815C0A}"/>
                </a:ext>
              </a:extLst>
            </p:cNvPr>
            <p:cNvSpPr txBox="1"/>
            <p:nvPr/>
          </p:nvSpPr>
          <p:spPr>
            <a:xfrm>
              <a:off x="214997" y="1686946"/>
              <a:ext cx="23211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01FF"/>
                  </a:solidFill>
                  <a:latin typeface="Comic Sans MS" panose="030F0902030302020204" pitchFamily="66" charset="0"/>
                </a:rPr>
                <a:t>“a photo of a cat”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7EC2C2E-C8DB-2BE9-58DA-2B9172A65C81}"/>
              </a:ext>
            </a:extLst>
          </p:cNvPr>
          <p:cNvCxnSpPr/>
          <p:nvPr/>
        </p:nvCxnSpPr>
        <p:spPr>
          <a:xfrm>
            <a:off x="2925947" y="2756641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001B2F-F8AD-7F14-F719-9F9353C1AFF8}"/>
              </a:ext>
            </a:extLst>
          </p:cNvPr>
          <p:cNvCxnSpPr/>
          <p:nvPr/>
        </p:nvCxnSpPr>
        <p:spPr>
          <a:xfrm>
            <a:off x="5932172" y="2763246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close-up of a pixelated screen&#10;&#10;AI-generated content may be incorrect.">
            <a:extLst>
              <a:ext uri="{FF2B5EF4-FFF2-40B4-BE49-F238E27FC236}">
                <a16:creationId xmlns:a16="http://schemas.microsoft.com/office/drawing/2014/main" id="{4A04CBE6-B51A-0972-D9F2-873B6B001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64" y="2164813"/>
            <a:ext cx="1422400" cy="1422400"/>
          </a:xfrm>
          <a:prstGeom prst="rect">
            <a:avLst/>
          </a:prstGeom>
        </p:spPr>
      </p:pic>
      <p:sp>
        <p:nvSpPr>
          <p:cNvPr id="14" name="Graphic 12" descr="Refresh with solid fill">
            <a:extLst>
              <a:ext uri="{FF2B5EF4-FFF2-40B4-BE49-F238E27FC236}">
                <a16:creationId xmlns:a16="http://schemas.microsoft.com/office/drawing/2014/main" id="{F3584702-A4C4-8605-57D6-BCE2488C1F1B}"/>
              </a:ext>
            </a:extLst>
          </p:cNvPr>
          <p:cNvSpPr/>
          <p:nvPr/>
        </p:nvSpPr>
        <p:spPr>
          <a:xfrm>
            <a:off x="4563240" y="3176058"/>
            <a:ext cx="445982" cy="484209"/>
          </a:xfrm>
          <a:custGeom>
            <a:avLst/>
            <a:gdLst>
              <a:gd name="csX0" fmla="*/ 666750 w 666750"/>
              <a:gd name="csY0" fmla="*/ 228600 h 723900"/>
              <a:gd name="csX1" fmla="*/ 666750 w 666750"/>
              <a:gd name="csY1" fmla="*/ 28575 h 723900"/>
              <a:gd name="csX2" fmla="*/ 602933 w 666750"/>
              <a:gd name="csY2" fmla="*/ 92393 h 723900"/>
              <a:gd name="csX3" fmla="*/ 361950 w 666750"/>
              <a:gd name="csY3" fmla="*/ 0 h 723900"/>
              <a:gd name="csX4" fmla="*/ 0 w 666750"/>
              <a:gd name="csY4" fmla="*/ 361950 h 723900"/>
              <a:gd name="csX5" fmla="*/ 361950 w 666750"/>
              <a:gd name="csY5" fmla="*/ 723900 h 723900"/>
              <a:gd name="csX6" fmla="*/ 618173 w 666750"/>
              <a:gd name="csY6" fmla="*/ 618173 h 723900"/>
              <a:gd name="csX7" fmla="*/ 537210 w 666750"/>
              <a:gd name="csY7" fmla="*/ 537210 h 723900"/>
              <a:gd name="csX8" fmla="*/ 361950 w 666750"/>
              <a:gd name="csY8" fmla="*/ 609600 h 723900"/>
              <a:gd name="csX9" fmla="*/ 114300 w 666750"/>
              <a:gd name="csY9" fmla="*/ 361950 h 723900"/>
              <a:gd name="csX10" fmla="*/ 361950 w 666750"/>
              <a:gd name="csY10" fmla="*/ 114300 h 723900"/>
              <a:gd name="csX11" fmla="*/ 521970 w 666750"/>
              <a:gd name="csY11" fmla="*/ 173355 h 723900"/>
              <a:gd name="csX12" fmla="*/ 466725 w 666750"/>
              <a:gd name="csY12" fmla="*/ 228600 h 723900"/>
              <a:gd name="csX13" fmla="*/ 666750 w 666750"/>
              <a:gd name="csY13" fmla="*/ 228600 h 723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66750" h="723900">
                <a:moveTo>
                  <a:pt x="666750" y="228600"/>
                </a:moveTo>
                <a:lnTo>
                  <a:pt x="666750" y="28575"/>
                </a:lnTo>
                <a:lnTo>
                  <a:pt x="602933" y="92393"/>
                </a:lnTo>
                <a:cubicBezTo>
                  <a:pt x="539115" y="35243"/>
                  <a:pt x="454343" y="0"/>
                  <a:pt x="361950" y="0"/>
                </a:cubicBez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461963" y="723900"/>
                  <a:pt x="552450" y="682943"/>
                  <a:pt x="618173" y="618173"/>
                </a:cubicBezTo>
                <a:lnTo>
                  <a:pt x="537210" y="537210"/>
                </a:lnTo>
                <a:cubicBezTo>
                  <a:pt x="492443" y="581978"/>
                  <a:pt x="430530" y="609600"/>
                  <a:pt x="361950" y="609600"/>
                </a:cubicBezTo>
                <a:cubicBezTo>
                  <a:pt x="225743" y="609600"/>
                  <a:pt x="114300" y="498158"/>
                  <a:pt x="114300" y="361950"/>
                </a:cubicBezTo>
                <a:cubicBezTo>
                  <a:pt x="114300" y="225743"/>
                  <a:pt x="225743" y="114300"/>
                  <a:pt x="361950" y="114300"/>
                </a:cubicBezTo>
                <a:cubicBezTo>
                  <a:pt x="422910" y="114300"/>
                  <a:pt x="479108" y="136208"/>
                  <a:pt x="521970" y="173355"/>
                </a:cubicBezTo>
                <a:lnTo>
                  <a:pt x="466725" y="228600"/>
                </a:lnTo>
                <a:lnTo>
                  <a:pt x="666750" y="228600"/>
                </a:lnTo>
                <a:close/>
              </a:path>
            </a:pathLst>
          </a:custGeom>
          <a:solidFill>
            <a:srgbClr val="000000">
              <a:alpha val="80123"/>
            </a:srgb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B8BB27-0014-40BD-7BCD-93F0817BF370}"/>
              </a:ext>
            </a:extLst>
          </p:cNvPr>
          <p:cNvSpPr txBox="1"/>
          <p:nvPr/>
        </p:nvSpPr>
        <p:spPr>
          <a:xfrm>
            <a:off x="4059044" y="3821965"/>
            <a:ext cx="161601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 steps…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9539C9-E5A6-EA0A-C087-B148C05A2C0B}"/>
              </a:ext>
            </a:extLst>
          </p:cNvPr>
          <p:cNvSpPr txBox="1"/>
          <p:nvPr/>
        </p:nvSpPr>
        <p:spPr>
          <a:xfrm>
            <a:off x="1108312" y="1268237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1E66C-2F84-6366-F722-B224FB114759}"/>
              </a:ext>
            </a:extLst>
          </p:cNvPr>
          <p:cNvSpPr txBox="1"/>
          <p:nvPr/>
        </p:nvSpPr>
        <p:spPr>
          <a:xfrm>
            <a:off x="776297" y="3022562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509B2-0B4D-24A8-74E7-1BA09FF223AC}"/>
              </a:ext>
            </a:extLst>
          </p:cNvPr>
          <p:cNvSpPr txBox="1"/>
          <p:nvPr/>
        </p:nvSpPr>
        <p:spPr>
          <a:xfrm>
            <a:off x="5068194" y="1998314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🔥</a:t>
            </a:r>
          </a:p>
        </p:txBody>
      </p:sp>
    </p:spTree>
    <p:extLst>
      <p:ext uri="{BB962C8B-B14F-4D97-AF65-F5344CB8AC3E}">
        <p14:creationId xmlns:p14="http://schemas.microsoft.com/office/powerpoint/2010/main" val="2621485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7D6EC-EA02-03E8-EB34-EB3E1584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16E235D-FE61-C542-378B-3CAA2C0EBABA}"/>
              </a:ext>
            </a:extLst>
          </p:cNvPr>
          <p:cNvGrpSpPr/>
          <p:nvPr/>
        </p:nvGrpSpPr>
        <p:grpSpPr>
          <a:xfrm>
            <a:off x="3921592" y="1950478"/>
            <a:ext cx="1753463" cy="1555755"/>
            <a:chOff x="3441962" y="1999621"/>
            <a:chExt cx="1901088" cy="1661144"/>
          </a:xfrm>
        </p:grpSpPr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CC0FE342-5C30-7BD0-32A4-E5CFBA1A559F}"/>
                </a:ext>
              </a:extLst>
            </p:cNvPr>
            <p:cNvSpPr/>
            <p:nvPr/>
          </p:nvSpPr>
          <p:spPr>
            <a:xfrm rot="16200000">
              <a:off x="3561934" y="1879649"/>
              <a:ext cx="1661144" cy="1901088"/>
            </a:xfrm>
            <a:prstGeom prst="trapezoid">
              <a:avLst/>
            </a:prstGeom>
            <a:solidFill>
              <a:srgbClr val="D9E3EF"/>
            </a:solidFill>
            <a:ln cap="rnd">
              <a:solidFill>
                <a:srgbClr val="D9E3E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94300A-8657-2F81-B8AC-A3A431F3EC0F}"/>
                </a:ext>
              </a:extLst>
            </p:cNvPr>
            <p:cNvSpPr txBox="1"/>
            <p:nvPr/>
          </p:nvSpPr>
          <p:spPr>
            <a:xfrm>
              <a:off x="3473081" y="2645526"/>
              <a:ext cx="1838850" cy="358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83028C1-2E50-9EE1-01DC-E3B6232C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 do we have?</a:t>
            </a:r>
          </a:p>
        </p:txBody>
      </p:sp>
      <p:pic>
        <p:nvPicPr>
          <p:cNvPr id="4" name="Picture 3" descr="A close up of a cat&#10;&#10;AI-generated content may be incorrect.">
            <a:extLst>
              <a:ext uri="{FF2B5EF4-FFF2-40B4-BE49-F238E27FC236}">
                <a16:creationId xmlns:a16="http://schemas.microsoft.com/office/drawing/2014/main" id="{A6C579F0-908B-FE51-7947-7783B72F7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313" y="1926068"/>
            <a:ext cx="1661145" cy="166114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A7E1EF8-B26C-F24A-AE10-93F58AD1A466}"/>
              </a:ext>
            </a:extLst>
          </p:cNvPr>
          <p:cNvGrpSpPr/>
          <p:nvPr/>
        </p:nvGrpSpPr>
        <p:grpSpPr>
          <a:xfrm>
            <a:off x="378780" y="1599476"/>
            <a:ext cx="2321169" cy="2314327"/>
            <a:chOff x="214997" y="1577591"/>
            <a:chExt cx="2321169" cy="2314327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E7A65D71-450A-27C5-B74B-E329052691EE}"/>
                </a:ext>
              </a:extLst>
            </p:cNvPr>
            <p:cNvSpPr/>
            <p:nvPr/>
          </p:nvSpPr>
          <p:spPr>
            <a:xfrm>
              <a:off x="214997" y="1577591"/>
              <a:ext cx="2321169" cy="2314327"/>
            </a:xfrm>
            <a:prstGeom prst="roundRect">
              <a:avLst/>
            </a:prstGeom>
            <a:solidFill>
              <a:schemeClr val="bg1">
                <a:lumMod val="75000"/>
                <a:alpha val="30362"/>
              </a:schemeClr>
            </a:solidFill>
            <a:ln>
              <a:solidFill>
                <a:schemeClr val="bg1">
                  <a:lumMod val="75000"/>
                  <a:alpha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0596C8-D472-3D2F-3758-B5BD5118F2BB}"/>
                </a:ext>
              </a:extLst>
            </p:cNvPr>
            <p:cNvSpPr txBox="1"/>
            <p:nvPr/>
          </p:nvSpPr>
          <p:spPr>
            <a:xfrm>
              <a:off x="214997" y="1686946"/>
              <a:ext cx="23211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01FF"/>
                  </a:solidFill>
                  <a:latin typeface="Comic Sans MS" panose="030F0902030302020204" pitchFamily="66" charset="0"/>
                </a:rPr>
                <a:t>“a photo of a cat”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A2B6B7-3B40-DAD6-89FA-44071B9EB0D7}"/>
              </a:ext>
            </a:extLst>
          </p:cNvPr>
          <p:cNvCxnSpPr/>
          <p:nvPr/>
        </p:nvCxnSpPr>
        <p:spPr>
          <a:xfrm>
            <a:off x="2925947" y="2756641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10A9B39-CC52-6748-4F0B-79A32819DE73}"/>
              </a:ext>
            </a:extLst>
          </p:cNvPr>
          <p:cNvCxnSpPr/>
          <p:nvPr/>
        </p:nvCxnSpPr>
        <p:spPr>
          <a:xfrm>
            <a:off x="5932172" y="2763246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close-up of a pixelated screen&#10;&#10;AI-generated content may be incorrect.">
            <a:extLst>
              <a:ext uri="{FF2B5EF4-FFF2-40B4-BE49-F238E27FC236}">
                <a16:creationId xmlns:a16="http://schemas.microsoft.com/office/drawing/2014/main" id="{7B0F55F1-A8A2-2473-409F-FC2D7BBC8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64" y="2164813"/>
            <a:ext cx="1422400" cy="1422400"/>
          </a:xfrm>
          <a:prstGeom prst="rect">
            <a:avLst/>
          </a:prstGeom>
        </p:spPr>
      </p:pic>
      <p:sp>
        <p:nvSpPr>
          <p:cNvPr id="14" name="Graphic 12" descr="Refresh with solid fill">
            <a:extLst>
              <a:ext uri="{FF2B5EF4-FFF2-40B4-BE49-F238E27FC236}">
                <a16:creationId xmlns:a16="http://schemas.microsoft.com/office/drawing/2014/main" id="{0F1006D4-5B3B-9FBA-DD3D-F9EDF0201619}"/>
              </a:ext>
            </a:extLst>
          </p:cNvPr>
          <p:cNvSpPr/>
          <p:nvPr/>
        </p:nvSpPr>
        <p:spPr>
          <a:xfrm>
            <a:off x="4563240" y="3176058"/>
            <a:ext cx="445982" cy="484209"/>
          </a:xfrm>
          <a:custGeom>
            <a:avLst/>
            <a:gdLst>
              <a:gd name="csX0" fmla="*/ 666750 w 666750"/>
              <a:gd name="csY0" fmla="*/ 228600 h 723900"/>
              <a:gd name="csX1" fmla="*/ 666750 w 666750"/>
              <a:gd name="csY1" fmla="*/ 28575 h 723900"/>
              <a:gd name="csX2" fmla="*/ 602933 w 666750"/>
              <a:gd name="csY2" fmla="*/ 92393 h 723900"/>
              <a:gd name="csX3" fmla="*/ 361950 w 666750"/>
              <a:gd name="csY3" fmla="*/ 0 h 723900"/>
              <a:gd name="csX4" fmla="*/ 0 w 666750"/>
              <a:gd name="csY4" fmla="*/ 361950 h 723900"/>
              <a:gd name="csX5" fmla="*/ 361950 w 666750"/>
              <a:gd name="csY5" fmla="*/ 723900 h 723900"/>
              <a:gd name="csX6" fmla="*/ 618173 w 666750"/>
              <a:gd name="csY6" fmla="*/ 618173 h 723900"/>
              <a:gd name="csX7" fmla="*/ 537210 w 666750"/>
              <a:gd name="csY7" fmla="*/ 537210 h 723900"/>
              <a:gd name="csX8" fmla="*/ 361950 w 666750"/>
              <a:gd name="csY8" fmla="*/ 609600 h 723900"/>
              <a:gd name="csX9" fmla="*/ 114300 w 666750"/>
              <a:gd name="csY9" fmla="*/ 361950 h 723900"/>
              <a:gd name="csX10" fmla="*/ 361950 w 666750"/>
              <a:gd name="csY10" fmla="*/ 114300 h 723900"/>
              <a:gd name="csX11" fmla="*/ 521970 w 666750"/>
              <a:gd name="csY11" fmla="*/ 173355 h 723900"/>
              <a:gd name="csX12" fmla="*/ 466725 w 666750"/>
              <a:gd name="csY12" fmla="*/ 228600 h 723900"/>
              <a:gd name="csX13" fmla="*/ 666750 w 666750"/>
              <a:gd name="csY13" fmla="*/ 228600 h 723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66750" h="723900">
                <a:moveTo>
                  <a:pt x="666750" y="228600"/>
                </a:moveTo>
                <a:lnTo>
                  <a:pt x="666750" y="28575"/>
                </a:lnTo>
                <a:lnTo>
                  <a:pt x="602933" y="92393"/>
                </a:lnTo>
                <a:cubicBezTo>
                  <a:pt x="539115" y="35243"/>
                  <a:pt x="454343" y="0"/>
                  <a:pt x="361950" y="0"/>
                </a:cubicBez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461963" y="723900"/>
                  <a:pt x="552450" y="682943"/>
                  <a:pt x="618173" y="618173"/>
                </a:cubicBezTo>
                <a:lnTo>
                  <a:pt x="537210" y="537210"/>
                </a:lnTo>
                <a:cubicBezTo>
                  <a:pt x="492443" y="581978"/>
                  <a:pt x="430530" y="609600"/>
                  <a:pt x="361950" y="609600"/>
                </a:cubicBezTo>
                <a:cubicBezTo>
                  <a:pt x="225743" y="609600"/>
                  <a:pt x="114300" y="498158"/>
                  <a:pt x="114300" y="361950"/>
                </a:cubicBezTo>
                <a:cubicBezTo>
                  <a:pt x="114300" y="225743"/>
                  <a:pt x="225743" y="114300"/>
                  <a:pt x="361950" y="114300"/>
                </a:cubicBezTo>
                <a:cubicBezTo>
                  <a:pt x="422910" y="114300"/>
                  <a:pt x="479108" y="136208"/>
                  <a:pt x="521970" y="173355"/>
                </a:cubicBezTo>
                <a:lnTo>
                  <a:pt x="466725" y="228600"/>
                </a:lnTo>
                <a:lnTo>
                  <a:pt x="666750" y="228600"/>
                </a:lnTo>
                <a:close/>
              </a:path>
            </a:pathLst>
          </a:custGeom>
          <a:solidFill>
            <a:srgbClr val="000000">
              <a:alpha val="80123"/>
            </a:srgb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E0B35-3A80-3625-C8F2-C9FE13A522FC}"/>
              </a:ext>
            </a:extLst>
          </p:cNvPr>
          <p:cNvSpPr txBox="1"/>
          <p:nvPr/>
        </p:nvSpPr>
        <p:spPr>
          <a:xfrm>
            <a:off x="4059044" y="3821965"/>
            <a:ext cx="161601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 steps…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18AEF-E5E6-98FF-5E6F-CF8D88C0189D}"/>
              </a:ext>
            </a:extLst>
          </p:cNvPr>
          <p:cNvSpPr txBox="1"/>
          <p:nvPr/>
        </p:nvSpPr>
        <p:spPr>
          <a:xfrm>
            <a:off x="1108312" y="1268237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576F80-49D9-3018-61B3-E2D1E37C229B}"/>
              </a:ext>
            </a:extLst>
          </p:cNvPr>
          <p:cNvSpPr txBox="1"/>
          <p:nvPr/>
        </p:nvSpPr>
        <p:spPr>
          <a:xfrm>
            <a:off x="776297" y="3022562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A3A2D-089D-8ACA-958C-58C701756847}"/>
              </a:ext>
            </a:extLst>
          </p:cNvPr>
          <p:cNvSpPr txBox="1"/>
          <p:nvPr/>
        </p:nvSpPr>
        <p:spPr>
          <a:xfrm>
            <a:off x="5068194" y="1998314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68989F-FA93-C7CC-DD16-7C3CF330360B}"/>
              </a:ext>
            </a:extLst>
          </p:cNvPr>
          <p:cNvSpPr txBox="1"/>
          <p:nvPr/>
        </p:nvSpPr>
        <p:spPr>
          <a:xfrm>
            <a:off x="2174877" y="956134"/>
            <a:ext cx="350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solidFill>
                  <a:srgbClr val="0001FF"/>
                </a:solidFill>
                <a:latin typeface="Comic Sans MS" panose="030F0902030302020204" pitchFamily="66" charset="0"/>
              </a:rPr>
              <a:t>“a photo of a cat with stripes”</a:t>
            </a:r>
          </a:p>
        </p:txBody>
      </p:sp>
      <p:pic>
        <p:nvPicPr>
          <p:cNvPr id="19" name="Picture 18" descr="A cat lying on the floor&#10;&#10;AI-generated content may be incorrect.">
            <a:extLst>
              <a:ext uri="{FF2B5EF4-FFF2-40B4-BE49-F238E27FC236}">
                <a16:creationId xmlns:a16="http://schemas.microsoft.com/office/drawing/2014/main" id="{1AC6A91E-19F4-7969-0227-D29116FD2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709" y="189949"/>
            <a:ext cx="1661145" cy="166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875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EEB25-0BFC-E243-CC9A-121680C0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977FB4F-7064-3184-B7A6-1F01689079FD}"/>
              </a:ext>
            </a:extLst>
          </p:cNvPr>
          <p:cNvGrpSpPr/>
          <p:nvPr/>
        </p:nvGrpSpPr>
        <p:grpSpPr>
          <a:xfrm>
            <a:off x="3921592" y="1950478"/>
            <a:ext cx="1753463" cy="1555755"/>
            <a:chOff x="3441962" y="1999621"/>
            <a:chExt cx="1901088" cy="1661144"/>
          </a:xfrm>
        </p:grpSpPr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EBAB056E-310F-8783-E0C0-2A6E20514408}"/>
                </a:ext>
              </a:extLst>
            </p:cNvPr>
            <p:cNvSpPr/>
            <p:nvPr/>
          </p:nvSpPr>
          <p:spPr>
            <a:xfrm rot="16200000">
              <a:off x="3561934" y="1879649"/>
              <a:ext cx="1661144" cy="1901088"/>
            </a:xfrm>
            <a:prstGeom prst="trapezoid">
              <a:avLst/>
            </a:prstGeom>
            <a:solidFill>
              <a:srgbClr val="D9E3EF"/>
            </a:solidFill>
            <a:ln cap="rnd">
              <a:solidFill>
                <a:srgbClr val="D9E3E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446A53C-77AB-97F6-61C6-208A96CC7468}"/>
                </a:ext>
              </a:extLst>
            </p:cNvPr>
            <p:cNvSpPr txBox="1"/>
            <p:nvPr/>
          </p:nvSpPr>
          <p:spPr>
            <a:xfrm>
              <a:off x="3473081" y="2645526"/>
              <a:ext cx="1838850" cy="358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CBE16E3-9932-C468-E4D8-1046DDB9B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 do we have?</a:t>
            </a:r>
          </a:p>
        </p:txBody>
      </p:sp>
      <p:pic>
        <p:nvPicPr>
          <p:cNvPr id="4" name="Picture 3" descr="A close up of a cat&#10;&#10;AI-generated content may be incorrect.">
            <a:extLst>
              <a:ext uri="{FF2B5EF4-FFF2-40B4-BE49-F238E27FC236}">
                <a16:creationId xmlns:a16="http://schemas.microsoft.com/office/drawing/2014/main" id="{B4D2406F-88D3-AC41-1053-CABF382BB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313" y="1926068"/>
            <a:ext cx="1661145" cy="166114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C23BB45-FCB8-A0D4-0A71-A9BA43D02DF6}"/>
              </a:ext>
            </a:extLst>
          </p:cNvPr>
          <p:cNvGrpSpPr/>
          <p:nvPr/>
        </p:nvGrpSpPr>
        <p:grpSpPr>
          <a:xfrm>
            <a:off x="378780" y="1599476"/>
            <a:ext cx="2321169" cy="2314327"/>
            <a:chOff x="214997" y="1577591"/>
            <a:chExt cx="2321169" cy="2314327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DA7BCF0-DC23-848C-1939-487AB54C191D}"/>
                </a:ext>
              </a:extLst>
            </p:cNvPr>
            <p:cNvSpPr/>
            <p:nvPr/>
          </p:nvSpPr>
          <p:spPr>
            <a:xfrm>
              <a:off x="214997" y="1577591"/>
              <a:ext cx="2321169" cy="2314327"/>
            </a:xfrm>
            <a:prstGeom prst="roundRect">
              <a:avLst/>
            </a:prstGeom>
            <a:solidFill>
              <a:schemeClr val="bg1">
                <a:lumMod val="75000"/>
                <a:alpha val="30362"/>
              </a:schemeClr>
            </a:solidFill>
            <a:ln>
              <a:solidFill>
                <a:schemeClr val="bg1">
                  <a:lumMod val="75000"/>
                  <a:alpha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7D5EA69-A4C6-5079-CB40-609C226F0FBD}"/>
                </a:ext>
              </a:extLst>
            </p:cNvPr>
            <p:cNvSpPr txBox="1"/>
            <p:nvPr/>
          </p:nvSpPr>
          <p:spPr>
            <a:xfrm>
              <a:off x="214997" y="1686946"/>
              <a:ext cx="23211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01FF"/>
                  </a:solidFill>
                  <a:latin typeface="Comic Sans MS" panose="030F0902030302020204" pitchFamily="66" charset="0"/>
                </a:rPr>
                <a:t>“a photo of a cat”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C01A8B-A300-AB81-687F-3828EE165141}"/>
              </a:ext>
            </a:extLst>
          </p:cNvPr>
          <p:cNvCxnSpPr/>
          <p:nvPr/>
        </p:nvCxnSpPr>
        <p:spPr>
          <a:xfrm>
            <a:off x="2925947" y="2756641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3CF73C-321F-43FC-51B9-E368CAE9442B}"/>
              </a:ext>
            </a:extLst>
          </p:cNvPr>
          <p:cNvCxnSpPr/>
          <p:nvPr/>
        </p:nvCxnSpPr>
        <p:spPr>
          <a:xfrm>
            <a:off x="5932172" y="2763246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close-up of a pixelated screen&#10;&#10;AI-generated content may be incorrect.">
            <a:extLst>
              <a:ext uri="{FF2B5EF4-FFF2-40B4-BE49-F238E27FC236}">
                <a16:creationId xmlns:a16="http://schemas.microsoft.com/office/drawing/2014/main" id="{E654012D-3A26-3D52-F615-6782651A9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64" y="2164813"/>
            <a:ext cx="1422400" cy="1422400"/>
          </a:xfrm>
          <a:prstGeom prst="rect">
            <a:avLst/>
          </a:prstGeom>
        </p:spPr>
      </p:pic>
      <p:sp>
        <p:nvSpPr>
          <p:cNvPr id="14" name="Graphic 12" descr="Refresh with solid fill">
            <a:extLst>
              <a:ext uri="{FF2B5EF4-FFF2-40B4-BE49-F238E27FC236}">
                <a16:creationId xmlns:a16="http://schemas.microsoft.com/office/drawing/2014/main" id="{7A122CAD-A9B9-167B-0DE7-C4F8D499E554}"/>
              </a:ext>
            </a:extLst>
          </p:cNvPr>
          <p:cNvSpPr/>
          <p:nvPr/>
        </p:nvSpPr>
        <p:spPr>
          <a:xfrm>
            <a:off x="4563240" y="3176058"/>
            <a:ext cx="445982" cy="484209"/>
          </a:xfrm>
          <a:custGeom>
            <a:avLst/>
            <a:gdLst>
              <a:gd name="csX0" fmla="*/ 666750 w 666750"/>
              <a:gd name="csY0" fmla="*/ 228600 h 723900"/>
              <a:gd name="csX1" fmla="*/ 666750 w 666750"/>
              <a:gd name="csY1" fmla="*/ 28575 h 723900"/>
              <a:gd name="csX2" fmla="*/ 602933 w 666750"/>
              <a:gd name="csY2" fmla="*/ 92393 h 723900"/>
              <a:gd name="csX3" fmla="*/ 361950 w 666750"/>
              <a:gd name="csY3" fmla="*/ 0 h 723900"/>
              <a:gd name="csX4" fmla="*/ 0 w 666750"/>
              <a:gd name="csY4" fmla="*/ 361950 h 723900"/>
              <a:gd name="csX5" fmla="*/ 361950 w 666750"/>
              <a:gd name="csY5" fmla="*/ 723900 h 723900"/>
              <a:gd name="csX6" fmla="*/ 618173 w 666750"/>
              <a:gd name="csY6" fmla="*/ 618173 h 723900"/>
              <a:gd name="csX7" fmla="*/ 537210 w 666750"/>
              <a:gd name="csY7" fmla="*/ 537210 h 723900"/>
              <a:gd name="csX8" fmla="*/ 361950 w 666750"/>
              <a:gd name="csY8" fmla="*/ 609600 h 723900"/>
              <a:gd name="csX9" fmla="*/ 114300 w 666750"/>
              <a:gd name="csY9" fmla="*/ 361950 h 723900"/>
              <a:gd name="csX10" fmla="*/ 361950 w 666750"/>
              <a:gd name="csY10" fmla="*/ 114300 h 723900"/>
              <a:gd name="csX11" fmla="*/ 521970 w 666750"/>
              <a:gd name="csY11" fmla="*/ 173355 h 723900"/>
              <a:gd name="csX12" fmla="*/ 466725 w 666750"/>
              <a:gd name="csY12" fmla="*/ 228600 h 723900"/>
              <a:gd name="csX13" fmla="*/ 666750 w 666750"/>
              <a:gd name="csY13" fmla="*/ 228600 h 723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66750" h="723900">
                <a:moveTo>
                  <a:pt x="666750" y="228600"/>
                </a:moveTo>
                <a:lnTo>
                  <a:pt x="666750" y="28575"/>
                </a:lnTo>
                <a:lnTo>
                  <a:pt x="602933" y="92393"/>
                </a:lnTo>
                <a:cubicBezTo>
                  <a:pt x="539115" y="35243"/>
                  <a:pt x="454343" y="0"/>
                  <a:pt x="361950" y="0"/>
                </a:cubicBez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461963" y="723900"/>
                  <a:pt x="552450" y="682943"/>
                  <a:pt x="618173" y="618173"/>
                </a:cubicBezTo>
                <a:lnTo>
                  <a:pt x="537210" y="537210"/>
                </a:lnTo>
                <a:cubicBezTo>
                  <a:pt x="492443" y="581978"/>
                  <a:pt x="430530" y="609600"/>
                  <a:pt x="361950" y="609600"/>
                </a:cubicBezTo>
                <a:cubicBezTo>
                  <a:pt x="225743" y="609600"/>
                  <a:pt x="114300" y="498158"/>
                  <a:pt x="114300" y="361950"/>
                </a:cubicBezTo>
                <a:cubicBezTo>
                  <a:pt x="114300" y="225743"/>
                  <a:pt x="225743" y="114300"/>
                  <a:pt x="361950" y="114300"/>
                </a:cubicBezTo>
                <a:cubicBezTo>
                  <a:pt x="422910" y="114300"/>
                  <a:pt x="479108" y="136208"/>
                  <a:pt x="521970" y="173355"/>
                </a:cubicBezTo>
                <a:lnTo>
                  <a:pt x="466725" y="228600"/>
                </a:lnTo>
                <a:lnTo>
                  <a:pt x="666750" y="228600"/>
                </a:lnTo>
                <a:close/>
              </a:path>
            </a:pathLst>
          </a:custGeom>
          <a:solidFill>
            <a:srgbClr val="000000">
              <a:alpha val="80123"/>
            </a:srgb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812084-B0D6-72D8-EEB0-DA35FF539117}"/>
              </a:ext>
            </a:extLst>
          </p:cNvPr>
          <p:cNvSpPr txBox="1"/>
          <p:nvPr/>
        </p:nvSpPr>
        <p:spPr>
          <a:xfrm>
            <a:off x="4059044" y="3821965"/>
            <a:ext cx="161601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 steps…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1A6B0-B5F9-373B-2289-3AFB4BC3AB03}"/>
              </a:ext>
            </a:extLst>
          </p:cNvPr>
          <p:cNvSpPr txBox="1"/>
          <p:nvPr/>
        </p:nvSpPr>
        <p:spPr>
          <a:xfrm>
            <a:off x="1108312" y="1268237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❄️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CD129-284D-93C8-2A0A-6D43B2EFCFB7}"/>
              </a:ext>
            </a:extLst>
          </p:cNvPr>
          <p:cNvSpPr txBox="1"/>
          <p:nvPr/>
        </p:nvSpPr>
        <p:spPr>
          <a:xfrm>
            <a:off x="776297" y="3022562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E176C8-4F03-0F78-EC94-AF0D0F280E81}"/>
              </a:ext>
            </a:extLst>
          </p:cNvPr>
          <p:cNvSpPr txBox="1"/>
          <p:nvPr/>
        </p:nvSpPr>
        <p:spPr>
          <a:xfrm>
            <a:off x="5068194" y="1998314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🔥</a:t>
            </a:r>
          </a:p>
        </p:txBody>
      </p:sp>
    </p:spTree>
    <p:extLst>
      <p:ext uri="{BB962C8B-B14F-4D97-AF65-F5344CB8AC3E}">
        <p14:creationId xmlns:p14="http://schemas.microsoft.com/office/powerpoint/2010/main" val="3315498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A895E-81A2-2757-2178-6A2EC8B8B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80A7D29-56AA-36A5-46F7-0A7F3955EBA9}"/>
              </a:ext>
            </a:extLst>
          </p:cNvPr>
          <p:cNvGrpSpPr/>
          <p:nvPr/>
        </p:nvGrpSpPr>
        <p:grpSpPr>
          <a:xfrm>
            <a:off x="3921592" y="1950478"/>
            <a:ext cx="1753463" cy="1555755"/>
            <a:chOff x="3441962" y="1999621"/>
            <a:chExt cx="1901088" cy="1661144"/>
          </a:xfrm>
        </p:grpSpPr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71B57B5D-1CA3-4500-0121-A7B9B8AF09A4}"/>
                </a:ext>
              </a:extLst>
            </p:cNvPr>
            <p:cNvSpPr/>
            <p:nvPr/>
          </p:nvSpPr>
          <p:spPr>
            <a:xfrm rot="16200000">
              <a:off x="3561934" y="1879649"/>
              <a:ext cx="1661144" cy="1901088"/>
            </a:xfrm>
            <a:prstGeom prst="trapezoid">
              <a:avLst/>
            </a:prstGeom>
            <a:solidFill>
              <a:srgbClr val="7C3AED">
                <a:alpha val="35000"/>
              </a:srgbClr>
            </a:solidFill>
            <a:ln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CB2B332-DDEC-2C70-38C7-2B65C6789F33}"/>
                </a:ext>
              </a:extLst>
            </p:cNvPr>
            <p:cNvSpPr txBox="1"/>
            <p:nvPr/>
          </p:nvSpPr>
          <p:spPr>
            <a:xfrm>
              <a:off x="3473081" y="2645526"/>
              <a:ext cx="1838850" cy="358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A896A0-85DF-A95A-0428-852593808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 do we have?</a:t>
            </a:r>
          </a:p>
        </p:txBody>
      </p:sp>
      <p:pic>
        <p:nvPicPr>
          <p:cNvPr id="4" name="Picture 3" descr="A close up of a cat&#10;&#10;AI-generated content may be incorrect.">
            <a:extLst>
              <a:ext uri="{FF2B5EF4-FFF2-40B4-BE49-F238E27FC236}">
                <a16:creationId xmlns:a16="http://schemas.microsoft.com/office/drawing/2014/main" id="{88B4D68B-4711-0B9A-8114-0D62E3186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313" y="1926068"/>
            <a:ext cx="1661145" cy="166114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1E14B6C-2867-7909-E3C5-32E6E77E3C29}"/>
              </a:ext>
            </a:extLst>
          </p:cNvPr>
          <p:cNvGrpSpPr/>
          <p:nvPr/>
        </p:nvGrpSpPr>
        <p:grpSpPr>
          <a:xfrm>
            <a:off x="378780" y="1599476"/>
            <a:ext cx="2321169" cy="2314327"/>
            <a:chOff x="214997" y="1577591"/>
            <a:chExt cx="2321169" cy="2314327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F3E1FC38-3B16-2A7B-91C8-8A2FB867B803}"/>
                </a:ext>
              </a:extLst>
            </p:cNvPr>
            <p:cNvSpPr/>
            <p:nvPr/>
          </p:nvSpPr>
          <p:spPr>
            <a:xfrm>
              <a:off x="214997" y="1577591"/>
              <a:ext cx="2321169" cy="2314327"/>
            </a:xfrm>
            <a:prstGeom prst="roundRect">
              <a:avLst/>
            </a:prstGeom>
            <a:solidFill>
              <a:schemeClr val="bg1">
                <a:lumMod val="75000"/>
                <a:alpha val="30362"/>
              </a:schemeClr>
            </a:solidFill>
            <a:ln>
              <a:solidFill>
                <a:schemeClr val="bg1">
                  <a:lumMod val="75000"/>
                  <a:alpha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87ADA8-8335-4B25-597C-86A1DF1369A2}"/>
                </a:ext>
              </a:extLst>
            </p:cNvPr>
            <p:cNvSpPr txBox="1"/>
            <p:nvPr/>
          </p:nvSpPr>
          <p:spPr>
            <a:xfrm>
              <a:off x="214997" y="1686946"/>
              <a:ext cx="23211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01FF"/>
                  </a:solidFill>
                  <a:latin typeface="Comic Sans MS" panose="030F0902030302020204" pitchFamily="66" charset="0"/>
                </a:rPr>
                <a:t>“a photo of a cat”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208A8F-755B-820C-85A3-0AF41C388078}"/>
              </a:ext>
            </a:extLst>
          </p:cNvPr>
          <p:cNvCxnSpPr/>
          <p:nvPr/>
        </p:nvCxnSpPr>
        <p:spPr>
          <a:xfrm>
            <a:off x="2925947" y="2756641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AF994F-0B25-A897-C472-926F963598EB}"/>
              </a:ext>
            </a:extLst>
          </p:cNvPr>
          <p:cNvCxnSpPr/>
          <p:nvPr/>
        </p:nvCxnSpPr>
        <p:spPr>
          <a:xfrm>
            <a:off x="5932172" y="2763246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close-up of a pixelated screen&#10;&#10;AI-generated content may be incorrect.">
            <a:extLst>
              <a:ext uri="{FF2B5EF4-FFF2-40B4-BE49-F238E27FC236}">
                <a16:creationId xmlns:a16="http://schemas.microsoft.com/office/drawing/2014/main" id="{FBFD6844-B45F-F3E5-5059-243A8A4D8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64" y="2164813"/>
            <a:ext cx="1422400" cy="1422400"/>
          </a:xfrm>
          <a:prstGeom prst="rect">
            <a:avLst/>
          </a:prstGeom>
        </p:spPr>
      </p:pic>
      <p:sp>
        <p:nvSpPr>
          <p:cNvPr id="14" name="Graphic 12" descr="Refresh with solid fill">
            <a:extLst>
              <a:ext uri="{FF2B5EF4-FFF2-40B4-BE49-F238E27FC236}">
                <a16:creationId xmlns:a16="http://schemas.microsoft.com/office/drawing/2014/main" id="{59DA8761-139A-9C08-7181-011CD028E757}"/>
              </a:ext>
            </a:extLst>
          </p:cNvPr>
          <p:cNvSpPr/>
          <p:nvPr/>
        </p:nvSpPr>
        <p:spPr>
          <a:xfrm>
            <a:off x="4563240" y="3176058"/>
            <a:ext cx="445982" cy="484209"/>
          </a:xfrm>
          <a:custGeom>
            <a:avLst/>
            <a:gdLst>
              <a:gd name="csX0" fmla="*/ 666750 w 666750"/>
              <a:gd name="csY0" fmla="*/ 228600 h 723900"/>
              <a:gd name="csX1" fmla="*/ 666750 w 666750"/>
              <a:gd name="csY1" fmla="*/ 28575 h 723900"/>
              <a:gd name="csX2" fmla="*/ 602933 w 666750"/>
              <a:gd name="csY2" fmla="*/ 92393 h 723900"/>
              <a:gd name="csX3" fmla="*/ 361950 w 666750"/>
              <a:gd name="csY3" fmla="*/ 0 h 723900"/>
              <a:gd name="csX4" fmla="*/ 0 w 666750"/>
              <a:gd name="csY4" fmla="*/ 361950 h 723900"/>
              <a:gd name="csX5" fmla="*/ 361950 w 666750"/>
              <a:gd name="csY5" fmla="*/ 723900 h 723900"/>
              <a:gd name="csX6" fmla="*/ 618173 w 666750"/>
              <a:gd name="csY6" fmla="*/ 618173 h 723900"/>
              <a:gd name="csX7" fmla="*/ 537210 w 666750"/>
              <a:gd name="csY7" fmla="*/ 537210 h 723900"/>
              <a:gd name="csX8" fmla="*/ 361950 w 666750"/>
              <a:gd name="csY8" fmla="*/ 609600 h 723900"/>
              <a:gd name="csX9" fmla="*/ 114300 w 666750"/>
              <a:gd name="csY9" fmla="*/ 361950 h 723900"/>
              <a:gd name="csX10" fmla="*/ 361950 w 666750"/>
              <a:gd name="csY10" fmla="*/ 114300 h 723900"/>
              <a:gd name="csX11" fmla="*/ 521970 w 666750"/>
              <a:gd name="csY11" fmla="*/ 173355 h 723900"/>
              <a:gd name="csX12" fmla="*/ 466725 w 666750"/>
              <a:gd name="csY12" fmla="*/ 228600 h 723900"/>
              <a:gd name="csX13" fmla="*/ 666750 w 666750"/>
              <a:gd name="csY13" fmla="*/ 228600 h 723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66750" h="723900">
                <a:moveTo>
                  <a:pt x="666750" y="228600"/>
                </a:moveTo>
                <a:lnTo>
                  <a:pt x="666750" y="28575"/>
                </a:lnTo>
                <a:lnTo>
                  <a:pt x="602933" y="92393"/>
                </a:lnTo>
                <a:cubicBezTo>
                  <a:pt x="539115" y="35243"/>
                  <a:pt x="454343" y="0"/>
                  <a:pt x="361950" y="0"/>
                </a:cubicBez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461963" y="723900"/>
                  <a:pt x="552450" y="682943"/>
                  <a:pt x="618173" y="618173"/>
                </a:cubicBezTo>
                <a:lnTo>
                  <a:pt x="537210" y="537210"/>
                </a:lnTo>
                <a:cubicBezTo>
                  <a:pt x="492443" y="581978"/>
                  <a:pt x="430530" y="609600"/>
                  <a:pt x="361950" y="609600"/>
                </a:cubicBezTo>
                <a:cubicBezTo>
                  <a:pt x="225743" y="609600"/>
                  <a:pt x="114300" y="498158"/>
                  <a:pt x="114300" y="361950"/>
                </a:cubicBezTo>
                <a:cubicBezTo>
                  <a:pt x="114300" y="225743"/>
                  <a:pt x="225743" y="114300"/>
                  <a:pt x="361950" y="114300"/>
                </a:cubicBezTo>
                <a:cubicBezTo>
                  <a:pt x="422910" y="114300"/>
                  <a:pt x="479108" y="136208"/>
                  <a:pt x="521970" y="173355"/>
                </a:cubicBezTo>
                <a:lnTo>
                  <a:pt x="466725" y="228600"/>
                </a:lnTo>
                <a:lnTo>
                  <a:pt x="666750" y="228600"/>
                </a:lnTo>
                <a:close/>
              </a:path>
            </a:pathLst>
          </a:custGeom>
          <a:solidFill>
            <a:srgbClr val="000000">
              <a:alpha val="80123"/>
            </a:srgb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81ADAA-58D4-BC9A-093E-95B2155A5E3D}"/>
              </a:ext>
            </a:extLst>
          </p:cNvPr>
          <p:cNvSpPr txBox="1"/>
          <p:nvPr/>
        </p:nvSpPr>
        <p:spPr>
          <a:xfrm>
            <a:off x="4059044" y="3821965"/>
            <a:ext cx="161601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 steps…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8754B-DF91-7752-D7F3-53CFEE729297}"/>
              </a:ext>
            </a:extLst>
          </p:cNvPr>
          <p:cNvSpPr txBox="1"/>
          <p:nvPr/>
        </p:nvSpPr>
        <p:spPr>
          <a:xfrm>
            <a:off x="1108312" y="1268237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❄️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F05AB-7909-20FE-F690-F3EE32FEDFDB}"/>
              </a:ext>
            </a:extLst>
          </p:cNvPr>
          <p:cNvSpPr txBox="1"/>
          <p:nvPr/>
        </p:nvSpPr>
        <p:spPr>
          <a:xfrm>
            <a:off x="776297" y="3022562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8FFDE-B375-C644-54A3-474E667304FE}"/>
              </a:ext>
            </a:extLst>
          </p:cNvPr>
          <p:cNvSpPr txBox="1"/>
          <p:nvPr/>
        </p:nvSpPr>
        <p:spPr>
          <a:xfrm>
            <a:off x="5068194" y="1998314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🔥</a:t>
            </a:r>
          </a:p>
        </p:txBody>
      </p:sp>
    </p:spTree>
    <p:extLst>
      <p:ext uri="{BB962C8B-B14F-4D97-AF65-F5344CB8AC3E}">
        <p14:creationId xmlns:p14="http://schemas.microsoft.com/office/powerpoint/2010/main" val="1417091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22499-6658-039B-FC3E-25C13C894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BD172D8-9E30-7C92-E1E8-EB0639C51A98}"/>
              </a:ext>
            </a:extLst>
          </p:cNvPr>
          <p:cNvGrpSpPr/>
          <p:nvPr/>
        </p:nvGrpSpPr>
        <p:grpSpPr>
          <a:xfrm>
            <a:off x="3921592" y="1950478"/>
            <a:ext cx="1753463" cy="1555755"/>
            <a:chOff x="3441962" y="1999621"/>
            <a:chExt cx="1901088" cy="1661144"/>
          </a:xfrm>
        </p:grpSpPr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5B55FA6F-82D0-1B53-A36B-555026571636}"/>
                </a:ext>
              </a:extLst>
            </p:cNvPr>
            <p:cNvSpPr/>
            <p:nvPr/>
          </p:nvSpPr>
          <p:spPr>
            <a:xfrm rot="16200000">
              <a:off x="3561934" y="1879649"/>
              <a:ext cx="1661144" cy="1901088"/>
            </a:xfrm>
            <a:prstGeom prst="trapezoid">
              <a:avLst/>
            </a:prstGeom>
            <a:solidFill>
              <a:srgbClr val="D9E3EF"/>
            </a:solidFill>
            <a:ln cap="rnd">
              <a:solidFill>
                <a:srgbClr val="D9E3E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300CE7C-FBC5-8644-2D60-38F1EE64319A}"/>
                </a:ext>
              </a:extLst>
            </p:cNvPr>
            <p:cNvSpPr txBox="1"/>
            <p:nvPr/>
          </p:nvSpPr>
          <p:spPr>
            <a:xfrm>
              <a:off x="3473081" y="2645526"/>
              <a:ext cx="1838850" cy="358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67B509-381A-7846-3CF0-3CB23B66E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 do we have?</a:t>
            </a:r>
          </a:p>
        </p:txBody>
      </p:sp>
      <p:pic>
        <p:nvPicPr>
          <p:cNvPr id="4" name="Picture 3" descr="A close up of a cat&#10;&#10;AI-generated content may be incorrect.">
            <a:extLst>
              <a:ext uri="{FF2B5EF4-FFF2-40B4-BE49-F238E27FC236}">
                <a16:creationId xmlns:a16="http://schemas.microsoft.com/office/drawing/2014/main" id="{06D25A21-47F9-E8DA-D9D5-464684EB9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313" y="1926068"/>
            <a:ext cx="1661145" cy="166114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EB6FA53-3F96-2BF7-9AA5-06357912319A}"/>
              </a:ext>
            </a:extLst>
          </p:cNvPr>
          <p:cNvGrpSpPr/>
          <p:nvPr/>
        </p:nvGrpSpPr>
        <p:grpSpPr>
          <a:xfrm>
            <a:off x="378780" y="1599476"/>
            <a:ext cx="2321169" cy="2314327"/>
            <a:chOff x="214997" y="1577591"/>
            <a:chExt cx="2321169" cy="2314327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051E2E1-B0FD-86F1-AAEA-38A1CFABB1C1}"/>
                </a:ext>
              </a:extLst>
            </p:cNvPr>
            <p:cNvSpPr/>
            <p:nvPr/>
          </p:nvSpPr>
          <p:spPr>
            <a:xfrm>
              <a:off x="214997" y="1577591"/>
              <a:ext cx="2321169" cy="2314327"/>
            </a:xfrm>
            <a:prstGeom prst="roundRect">
              <a:avLst/>
            </a:prstGeom>
            <a:solidFill>
              <a:schemeClr val="bg1">
                <a:lumMod val="75000"/>
                <a:alpha val="30362"/>
              </a:schemeClr>
            </a:solidFill>
            <a:ln>
              <a:solidFill>
                <a:schemeClr val="bg1">
                  <a:lumMod val="75000"/>
                  <a:alpha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E1C05FE-EFCB-24B4-3C36-C0DCDD87EEED}"/>
                </a:ext>
              </a:extLst>
            </p:cNvPr>
            <p:cNvSpPr txBox="1"/>
            <p:nvPr/>
          </p:nvSpPr>
          <p:spPr>
            <a:xfrm>
              <a:off x="214997" y="1686946"/>
              <a:ext cx="23211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01FF"/>
                  </a:solidFill>
                  <a:latin typeface="Comic Sans MS" panose="030F0902030302020204" pitchFamily="66" charset="0"/>
                </a:rPr>
                <a:t>“a photo of a cat”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CBCA11-5275-2F98-0548-A5031B77254A}"/>
              </a:ext>
            </a:extLst>
          </p:cNvPr>
          <p:cNvCxnSpPr/>
          <p:nvPr/>
        </p:nvCxnSpPr>
        <p:spPr>
          <a:xfrm>
            <a:off x="2925947" y="2756641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884D20A-A224-DCFA-3535-1FD44F08BC57}"/>
              </a:ext>
            </a:extLst>
          </p:cNvPr>
          <p:cNvCxnSpPr/>
          <p:nvPr/>
        </p:nvCxnSpPr>
        <p:spPr>
          <a:xfrm>
            <a:off x="5932172" y="2763246"/>
            <a:ext cx="6531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close-up of a pixelated screen&#10;&#10;AI-generated content may be incorrect.">
            <a:extLst>
              <a:ext uri="{FF2B5EF4-FFF2-40B4-BE49-F238E27FC236}">
                <a16:creationId xmlns:a16="http://schemas.microsoft.com/office/drawing/2014/main" id="{A0F0938C-58AF-BD00-E733-27AFFE21E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64" y="2164813"/>
            <a:ext cx="1422400" cy="1422400"/>
          </a:xfrm>
          <a:prstGeom prst="rect">
            <a:avLst/>
          </a:prstGeom>
        </p:spPr>
      </p:pic>
      <p:sp>
        <p:nvSpPr>
          <p:cNvPr id="14" name="Graphic 12" descr="Refresh with solid fill">
            <a:extLst>
              <a:ext uri="{FF2B5EF4-FFF2-40B4-BE49-F238E27FC236}">
                <a16:creationId xmlns:a16="http://schemas.microsoft.com/office/drawing/2014/main" id="{3DAA73A9-7684-C84F-2565-84BC864B3DFB}"/>
              </a:ext>
            </a:extLst>
          </p:cNvPr>
          <p:cNvSpPr/>
          <p:nvPr/>
        </p:nvSpPr>
        <p:spPr>
          <a:xfrm>
            <a:off x="4563240" y="3176058"/>
            <a:ext cx="445982" cy="484209"/>
          </a:xfrm>
          <a:custGeom>
            <a:avLst/>
            <a:gdLst>
              <a:gd name="csX0" fmla="*/ 666750 w 666750"/>
              <a:gd name="csY0" fmla="*/ 228600 h 723900"/>
              <a:gd name="csX1" fmla="*/ 666750 w 666750"/>
              <a:gd name="csY1" fmla="*/ 28575 h 723900"/>
              <a:gd name="csX2" fmla="*/ 602933 w 666750"/>
              <a:gd name="csY2" fmla="*/ 92393 h 723900"/>
              <a:gd name="csX3" fmla="*/ 361950 w 666750"/>
              <a:gd name="csY3" fmla="*/ 0 h 723900"/>
              <a:gd name="csX4" fmla="*/ 0 w 666750"/>
              <a:gd name="csY4" fmla="*/ 361950 h 723900"/>
              <a:gd name="csX5" fmla="*/ 361950 w 666750"/>
              <a:gd name="csY5" fmla="*/ 723900 h 723900"/>
              <a:gd name="csX6" fmla="*/ 618173 w 666750"/>
              <a:gd name="csY6" fmla="*/ 618173 h 723900"/>
              <a:gd name="csX7" fmla="*/ 537210 w 666750"/>
              <a:gd name="csY7" fmla="*/ 537210 h 723900"/>
              <a:gd name="csX8" fmla="*/ 361950 w 666750"/>
              <a:gd name="csY8" fmla="*/ 609600 h 723900"/>
              <a:gd name="csX9" fmla="*/ 114300 w 666750"/>
              <a:gd name="csY9" fmla="*/ 361950 h 723900"/>
              <a:gd name="csX10" fmla="*/ 361950 w 666750"/>
              <a:gd name="csY10" fmla="*/ 114300 h 723900"/>
              <a:gd name="csX11" fmla="*/ 521970 w 666750"/>
              <a:gd name="csY11" fmla="*/ 173355 h 723900"/>
              <a:gd name="csX12" fmla="*/ 466725 w 666750"/>
              <a:gd name="csY12" fmla="*/ 228600 h 723900"/>
              <a:gd name="csX13" fmla="*/ 666750 w 666750"/>
              <a:gd name="csY13" fmla="*/ 228600 h 723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66750" h="723900">
                <a:moveTo>
                  <a:pt x="666750" y="228600"/>
                </a:moveTo>
                <a:lnTo>
                  <a:pt x="666750" y="28575"/>
                </a:lnTo>
                <a:lnTo>
                  <a:pt x="602933" y="92393"/>
                </a:lnTo>
                <a:cubicBezTo>
                  <a:pt x="539115" y="35243"/>
                  <a:pt x="454343" y="0"/>
                  <a:pt x="361950" y="0"/>
                </a:cubicBez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461963" y="723900"/>
                  <a:pt x="552450" y="682943"/>
                  <a:pt x="618173" y="618173"/>
                </a:cubicBezTo>
                <a:lnTo>
                  <a:pt x="537210" y="537210"/>
                </a:lnTo>
                <a:cubicBezTo>
                  <a:pt x="492443" y="581978"/>
                  <a:pt x="430530" y="609600"/>
                  <a:pt x="361950" y="609600"/>
                </a:cubicBezTo>
                <a:cubicBezTo>
                  <a:pt x="225743" y="609600"/>
                  <a:pt x="114300" y="498158"/>
                  <a:pt x="114300" y="361950"/>
                </a:cubicBezTo>
                <a:cubicBezTo>
                  <a:pt x="114300" y="225743"/>
                  <a:pt x="225743" y="114300"/>
                  <a:pt x="361950" y="114300"/>
                </a:cubicBezTo>
                <a:cubicBezTo>
                  <a:pt x="422910" y="114300"/>
                  <a:pt x="479108" y="136208"/>
                  <a:pt x="521970" y="173355"/>
                </a:cubicBezTo>
                <a:lnTo>
                  <a:pt x="466725" y="228600"/>
                </a:lnTo>
                <a:lnTo>
                  <a:pt x="666750" y="228600"/>
                </a:lnTo>
                <a:close/>
              </a:path>
            </a:pathLst>
          </a:custGeom>
          <a:solidFill>
            <a:srgbClr val="000000">
              <a:alpha val="80123"/>
            </a:srgb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8E68B2-791A-3FCC-9A1C-DDECDACFCCEB}"/>
              </a:ext>
            </a:extLst>
          </p:cNvPr>
          <p:cNvSpPr txBox="1"/>
          <p:nvPr/>
        </p:nvSpPr>
        <p:spPr>
          <a:xfrm>
            <a:off x="4059044" y="3821965"/>
            <a:ext cx="161601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 steps…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92A58-9D5C-73D2-88F6-0B23703F957A}"/>
              </a:ext>
            </a:extLst>
          </p:cNvPr>
          <p:cNvSpPr txBox="1"/>
          <p:nvPr/>
        </p:nvSpPr>
        <p:spPr>
          <a:xfrm>
            <a:off x="1108312" y="1268237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❄️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48F1D-50CF-9605-AFD8-765C67CBC0AC}"/>
              </a:ext>
            </a:extLst>
          </p:cNvPr>
          <p:cNvSpPr txBox="1"/>
          <p:nvPr/>
        </p:nvSpPr>
        <p:spPr>
          <a:xfrm>
            <a:off x="776297" y="3022562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B8A03-F2CF-A2A8-201F-5D4EE6203841}"/>
              </a:ext>
            </a:extLst>
          </p:cNvPr>
          <p:cNvSpPr txBox="1"/>
          <p:nvPr/>
        </p:nvSpPr>
        <p:spPr>
          <a:xfrm>
            <a:off x="5068194" y="1998314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❄️</a:t>
            </a:r>
          </a:p>
        </p:txBody>
      </p:sp>
    </p:spTree>
    <p:extLst>
      <p:ext uri="{BB962C8B-B14F-4D97-AF65-F5344CB8AC3E}">
        <p14:creationId xmlns:p14="http://schemas.microsoft.com/office/powerpoint/2010/main" val="2485888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24860-F15D-2A78-2722-0EFCCF2C8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4827-22DC-8B09-DEE3-D0F84A146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– optimize initial noise for output diversity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5A3C496-3EB4-56A7-3978-AAE33FF92358}"/>
              </a:ext>
            </a:extLst>
          </p:cNvPr>
          <p:cNvSpPr/>
          <p:nvPr/>
        </p:nvSpPr>
        <p:spPr>
          <a:xfrm>
            <a:off x="649800" y="2057830"/>
            <a:ext cx="2168991" cy="1961667"/>
          </a:xfrm>
          <a:prstGeom prst="roundRect">
            <a:avLst/>
          </a:prstGeom>
          <a:solidFill>
            <a:schemeClr val="tx1">
              <a:alpha val="5000"/>
            </a:schemeClr>
          </a:solidFill>
          <a:ln>
            <a:solidFill>
              <a:srgbClr val="CBD5E1">
                <a:alpha val="1037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8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C32CD13-3D3C-69DD-EA68-1F1C1FD372A9}"/>
              </a:ext>
            </a:extLst>
          </p:cNvPr>
          <p:cNvGrpSpPr/>
          <p:nvPr/>
        </p:nvGrpSpPr>
        <p:grpSpPr>
          <a:xfrm>
            <a:off x="649800" y="1494303"/>
            <a:ext cx="2168991" cy="525540"/>
            <a:chOff x="506866" y="1475942"/>
            <a:chExt cx="2488125" cy="52554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7DD4B18B-E022-E544-C986-ACEAF06033F5}"/>
                </a:ext>
              </a:extLst>
            </p:cNvPr>
            <p:cNvSpPr/>
            <p:nvPr/>
          </p:nvSpPr>
          <p:spPr>
            <a:xfrm>
              <a:off x="520421" y="1475942"/>
              <a:ext cx="2474570" cy="525540"/>
            </a:xfrm>
            <a:prstGeom prst="roundRect">
              <a:avLst/>
            </a:prstGeom>
            <a:solidFill>
              <a:srgbClr val="0001FF">
                <a:alpha val="5000"/>
              </a:srgbClr>
            </a:solidFill>
            <a:ln>
              <a:solidFill>
                <a:srgbClr val="CBD5E1">
                  <a:alpha val="1037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8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3C79CB-B46B-57A6-FAA5-19AE4364B4A6}"/>
                </a:ext>
              </a:extLst>
            </p:cNvPr>
            <p:cNvSpPr txBox="1"/>
            <p:nvPr/>
          </p:nvSpPr>
          <p:spPr>
            <a:xfrm>
              <a:off x="506866" y="1567102"/>
              <a:ext cx="24745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01FF"/>
                  </a:solidFill>
                  <a:latin typeface="Comic Sans MS" panose="030F0902030302020204" pitchFamily="66" charset="0"/>
                </a:rPr>
                <a:t>“a photo of a cat”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8671243-800B-6CB6-32FE-E1BF72AF944E}"/>
              </a:ext>
            </a:extLst>
          </p:cNvPr>
          <p:cNvSpPr txBox="1"/>
          <p:nvPr/>
        </p:nvSpPr>
        <p:spPr>
          <a:xfrm>
            <a:off x="428196" y="1051540"/>
            <a:ext cx="2474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ple Color Emoji" pitchFamily="2" charset="0"/>
                <a:ea typeface="Apple Color Emoji" pitchFamily="2" charset="0"/>
              </a:rPr>
              <a:t>❄️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98D2357-717C-FABA-33F1-8F1A2F0D4AA5}"/>
              </a:ext>
            </a:extLst>
          </p:cNvPr>
          <p:cNvGrpSpPr/>
          <p:nvPr/>
        </p:nvGrpSpPr>
        <p:grpSpPr>
          <a:xfrm>
            <a:off x="311700" y="2233154"/>
            <a:ext cx="2858579" cy="1725327"/>
            <a:chOff x="496198" y="2392995"/>
            <a:chExt cx="4005650" cy="238607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F696253-FB4D-36A7-E5E7-CEE74B950C4A}"/>
                </a:ext>
              </a:extLst>
            </p:cNvPr>
            <p:cNvSpPr txBox="1"/>
            <p:nvPr/>
          </p:nvSpPr>
          <p:spPr>
            <a:xfrm>
              <a:off x="496198" y="4310857"/>
              <a:ext cx="4005650" cy="46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Initialization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25F70B5-B26B-59B8-F69B-93DEBE3FFF8C}"/>
                </a:ext>
              </a:extLst>
            </p:cNvPr>
            <p:cNvGrpSpPr/>
            <p:nvPr/>
          </p:nvGrpSpPr>
          <p:grpSpPr>
            <a:xfrm>
              <a:off x="1595020" y="2392995"/>
              <a:ext cx="1791673" cy="1791674"/>
              <a:chOff x="7302903" y="-1170929"/>
              <a:chExt cx="1457744" cy="145035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FC3D40E-4CE7-126A-9144-DF21E2506848}"/>
                  </a:ext>
                </a:extLst>
              </p:cNvPr>
              <p:cNvGrpSpPr/>
              <p:nvPr/>
            </p:nvGrpSpPr>
            <p:grpSpPr>
              <a:xfrm>
                <a:off x="8072870" y="-406379"/>
                <a:ext cx="687777" cy="685801"/>
                <a:chOff x="1432674" y="2979235"/>
                <a:chExt cx="687777" cy="685801"/>
              </a:xfrm>
            </p:grpSpPr>
            <p:pic>
              <p:nvPicPr>
                <p:cNvPr id="28" name="Picture 27" descr="A close-up of a colorful background&#10;&#10;AI-generated content may be incorrect.">
                  <a:extLst>
                    <a:ext uri="{FF2B5EF4-FFF2-40B4-BE49-F238E27FC236}">
                      <a16:creationId xmlns:a16="http://schemas.microsoft.com/office/drawing/2014/main" id="{36F05914-ADE1-FF2A-155D-9805377D8A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34651" y="2979235"/>
                  <a:ext cx="685800" cy="685801"/>
                </a:xfrm>
                <a:prstGeom prst="rect">
                  <a:avLst/>
                </a:prstGeom>
              </p:spPr>
            </p:pic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5A9152A0-FAF0-B667-C3D2-154E7E3AFF4A}"/>
                    </a:ext>
                  </a:extLst>
                </p:cNvPr>
                <p:cNvSpPr/>
                <p:nvPr/>
              </p:nvSpPr>
              <p:spPr>
                <a:xfrm>
                  <a:off x="1432674" y="2979235"/>
                  <a:ext cx="684646" cy="685800"/>
                </a:xfrm>
                <a:prstGeom prst="rect">
                  <a:avLst/>
                </a:prstGeom>
                <a:noFill/>
                <a:ln w="38100">
                  <a:solidFill>
                    <a:srgbClr val="D9770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29D6298-A537-9BC8-61B4-B0A6E19091F7}"/>
                  </a:ext>
                </a:extLst>
              </p:cNvPr>
              <p:cNvGrpSpPr/>
              <p:nvPr/>
            </p:nvGrpSpPr>
            <p:grpSpPr>
              <a:xfrm>
                <a:off x="7302903" y="-406379"/>
                <a:ext cx="692039" cy="685800"/>
                <a:chOff x="490042" y="3297357"/>
                <a:chExt cx="692039" cy="685800"/>
              </a:xfrm>
            </p:grpSpPr>
            <p:pic>
              <p:nvPicPr>
                <p:cNvPr id="26" name="Picture 25" descr="A close-up of a television screen&#10;&#10;AI-generated content may be incorrect.">
                  <a:extLst>
                    <a:ext uri="{FF2B5EF4-FFF2-40B4-BE49-F238E27FC236}">
                      <a16:creationId xmlns:a16="http://schemas.microsoft.com/office/drawing/2014/main" id="{3AA3C884-6558-B51F-BA8B-C940ED53F7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6281" y="3297357"/>
                  <a:ext cx="685800" cy="685800"/>
                </a:xfrm>
                <a:prstGeom prst="rect">
                  <a:avLst/>
                </a:prstGeom>
              </p:spPr>
            </p:pic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3BD306F9-0B07-1FEB-A70C-E231C9352E42}"/>
                    </a:ext>
                  </a:extLst>
                </p:cNvPr>
                <p:cNvSpPr/>
                <p:nvPr/>
              </p:nvSpPr>
              <p:spPr>
                <a:xfrm>
                  <a:off x="490042" y="3297357"/>
                  <a:ext cx="685800" cy="685800"/>
                </a:xfrm>
                <a:prstGeom prst="rect">
                  <a:avLst/>
                </a:prstGeom>
                <a:noFill/>
                <a:ln w="38100">
                  <a:solidFill>
                    <a:srgbClr val="05966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2C7C60C9-C3ED-9655-89A0-19220E4B3A87}"/>
                  </a:ext>
                </a:extLst>
              </p:cNvPr>
              <p:cNvGrpSpPr/>
              <p:nvPr/>
            </p:nvGrpSpPr>
            <p:grpSpPr>
              <a:xfrm>
                <a:off x="7302903" y="-1170929"/>
                <a:ext cx="687994" cy="685800"/>
                <a:chOff x="1341420" y="4320317"/>
                <a:chExt cx="687994" cy="685800"/>
              </a:xfrm>
            </p:grpSpPr>
            <p:pic>
              <p:nvPicPr>
                <p:cNvPr id="24" name="Picture 23" descr="A close-up of a colorful background&#10;&#10;AI-generated content may be incorrect.">
                  <a:extLst>
                    <a:ext uri="{FF2B5EF4-FFF2-40B4-BE49-F238E27FC236}">
                      <a16:creationId xmlns:a16="http://schemas.microsoft.com/office/drawing/2014/main" id="{8341B039-CF04-7441-80FF-3E5D7835F2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45801" y="4320317"/>
                  <a:ext cx="683613" cy="683614"/>
                </a:xfrm>
                <a:prstGeom prst="rect">
                  <a:avLst/>
                </a:prstGeom>
              </p:spPr>
            </p:pic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BCD7065-48BF-ED4C-2B85-698C261FB4DF}"/>
                    </a:ext>
                  </a:extLst>
                </p:cNvPr>
                <p:cNvSpPr/>
                <p:nvPr/>
              </p:nvSpPr>
              <p:spPr>
                <a:xfrm>
                  <a:off x="1341420" y="4320317"/>
                  <a:ext cx="685800" cy="685800"/>
                </a:xfrm>
                <a:prstGeom prst="rect">
                  <a:avLst/>
                </a:prstGeom>
                <a:noFill/>
                <a:ln w="38100">
                  <a:solidFill>
                    <a:srgbClr val="BE123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564B3AB-603B-E1F8-E75E-8EB4D1ED00B4}"/>
                  </a:ext>
                </a:extLst>
              </p:cNvPr>
              <p:cNvGrpSpPr/>
              <p:nvPr/>
            </p:nvGrpSpPr>
            <p:grpSpPr>
              <a:xfrm>
                <a:off x="8060392" y="-1170929"/>
                <a:ext cx="692101" cy="685863"/>
                <a:chOff x="2941187" y="4000909"/>
                <a:chExt cx="692101" cy="685863"/>
              </a:xfrm>
            </p:grpSpPr>
            <p:pic>
              <p:nvPicPr>
                <p:cNvPr id="22" name="Picture 21" descr="A close-up of a television screen&#10;&#10;AI-generated content may be incorrect.">
                  <a:extLst>
                    <a:ext uri="{FF2B5EF4-FFF2-40B4-BE49-F238E27FC236}">
                      <a16:creationId xmlns:a16="http://schemas.microsoft.com/office/drawing/2014/main" id="{227E8A13-308A-EBDE-3F5E-8F51256AFB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47425" y="4000909"/>
                  <a:ext cx="685863" cy="685863"/>
                </a:xfrm>
                <a:prstGeom prst="rect">
                  <a:avLst/>
                </a:prstGeom>
              </p:spPr>
            </p:pic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BE9CC3F-BEDA-D476-4073-2F186D8ECB00}"/>
                    </a:ext>
                  </a:extLst>
                </p:cNvPr>
                <p:cNvSpPr/>
                <p:nvPr/>
              </p:nvSpPr>
              <p:spPr>
                <a:xfrm>
                  <a:off x="2941187" y="4000909"/>
                  <a:ext cx="685800" cy="685800"/>
                </a:xfrm>
                <a:prstGeom prst="rect">
                  <a:avLst/>
                </a:prstGeom>
                <a:noFill/>
                <a:ln w="38100">
                  <a:solidFill>
                    <a:srgbClr val="7C3AE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32712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74969-6316-14EA-707E-947F94625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EF6EE-080D-AC5D-13DE-66D7DF85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– optimize initial noise for output diversity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A1ACA7-5D5B-462F-F829-80295EF1F7A5}"/>
              </a:ext>
            </a:extLst>
          </p:cNvPr>
          <p:cNvSpPr/>
          <p:nvPr/>
        </p:nvSpPr>
        <p:spPr>
          <a:xfrm>
            <a:off x="649800" y="2057830"/>
            <a:ext cx="2168991" cy="1961667"/>
          </a:xfrm>
          <a:prstGeom prst="roundRect">
            <a:avLst/>
          </a:prstGeom>
          <a:solidFill>
            <a:schemeClr val="tx1">
              <a:alpha val="5000"/>
            </a:schemeClr>
          </a:solidFill>
          <a:ln>
            <a:solidFill>
              <a:srgbClr val="CBD5E1">
                <a:alpha val="1037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8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4C76E52-7EFB-1A58-14E9-16DC2224EC61}"/>
              </a:ext>
            </a:extLst>
          </p:cNvPr>
          <p:cNvGrpSpPr/>
          <p:nvPr/>
        </p:nvGrpSpPr>
        <p:grpSpPr>
          <a:xfrm>
            <a:off x="649800" y="1494303"/>
            <a:ext cx="2168991" cy="525540"/>
            <a:chOff x="506866" y="1475942"/>
            <a:chExt cx="2488125" cy="52554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8E92160-6309-EF6B-41ED-0C8A4851164E}"/>
                </a:ext>
              </a:extLst>
            </p:cNvPr>
            <p:cNvSpPr/>
            <p:nvPr/>
          </p:nvSpPr>
          <p:spPr>
            <a:xfrm>
              <a:off x="520421" y="1475942"/>
              <a:ext cx="2474570" cy="525540"/>
            </a:xfrm>
            <a:prstGeom prst="roundRect">
              <a:avLst/>
            </a:prstGeom>
            <a:solidFill>
              <a:srgbClr val="0001FF">
                <a:alpha val="5000"/>
              </a:srgbClr>
            </a:solidFill>
            <a:ln>
              <a:solidFill>
                <a:srgbClr val="CBD5E1">
                  <a:alpha val="1037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8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87C6BE0-1422-6CC5-649A-92316017AEB2}"/>
                </a:ext>
              </a:extLst>
            </p:cNvPr>
            <p:cNvSpPr txBox="1"/>
            <p:nvPr/>
          </p:nvSpPr>
          <p:spPr>
            <a:xfrm>
              <a:off x="506866" y="1567102"/>
              <a:ext cx="24745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01FF"/>
                  </a:solidFill>
                  <a:latin typeface="Comic Sans MS" panose="030F0902030302020204" pitchFamily="66" charset="0"/>
                </a:rPr>
                <a:t>“a photo of a cat”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D99BA0D-7FFF-634D-06A2-D1AB860DD45A}"/>
              </a:ext>
            </a:extLst>
          </p:cNvPr>
          <p:cNvSpPr txBox="1"/>
          <p:nvPr/>
        </p:nvSpPr>
        <p:spPr>
          <a:xfrm>
            <a:off x="428196" y="1051540"/>
            <a:ext cx="2474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ple Color Emoji" pitchFamily="2" charset="0"/>
                <a:ea typeface="Apple Color Emoji" pitchFamily="2" charset="0"/>
              </a:rPr>
              <a:t>❄️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93E17E2-16B1-59EF-D469-2686D1BFC026}"/>
              </a:ext>
            </a:extLst>
          </p:cNvPr>
          <p:cNvGrpSpPr/>
          <p:nvPr/>
        </p:nvGrpSpPr>
        <p:grpSpPr>
          <a:xfrm>
            <a:off x="311700" y="2233154"/>
            <a:ext cx="2858579" cy="1725327"/>
            <a:chOff x="496198" y="2392995"/>
            <a:chExt cx="4005650" cy="238607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5E59CAE-420D-53F5-9142-144C4ED5A0E1}"/>
                </a:ext>
              </a:extLst>
            </p:cNvPr>
            <p:cNvSpPr txBox="1"/>
            <p:nvPr/>
          </p:nvSpPr>
          <p:spPr>
            <a:xfrm>
              <a:off x="496198" y="4310857"/>
              <a:ext cx="4005650" cy="46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Initialization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36ABDB9-2851-5ABE-0C9D-253CF2EACC82}"/>
                </a:ext>
              </a:extLst>
            </p:cNvPr>
            <p:cNvGrpSpPr/>
            <p:nvPr/>
          </p:nvGrpSpPr>
          <p:grpSpPr>
            <a:xfrm>
              <a:off x="1595020" y="2392995"/>
              <a:ext cx="1791673" cy="1791674"/>
              <a:chOff x="7302903" y="-1170929"/>
              <a:chExt cx="1457744" cy="145035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80EFFB3-9FEB-25AB-D57F-6F16C1D2D0F2}"/>
                  </a:ext>
                </a:extLst>
              </p:cNvPr>
              <p:cNvGrpSpPr/>
              <p:nvPr/>
            </p:nvGrpSpPr>
            <p:grpSpPr>
              <a:xfrm>
                <a:off x="8072870" y="-406379"/>
                <a:ext cx="687777" cy="685801"/>
                <a:chOff x="1432674" y="2979235"/>
                <a:chExt cx="687777" cy="685801"/>
              </a:xfrm>
            </p:grpSpPr>
            <p:pic>
              <p:nvPicPr>
                <p:cNvPr id="28" name="Picture 27" descr="A close-up of a colorful background&#10;&#10;AI-generated content may be incorrect.">
                  <a:extLst>
                    <a:ext uri="{FF2B5EF4-FFF2-40B4-BE49-F238E27FC236}">
                      <a16:creationId xmlns:a16="http://schemas.microsoft.com/office/drawing/2014/main" id="{30CC7D24-06C7-B696-5DF4-4E813306CF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34651" y="2979235"/>
                  <a:ext cx="685800" cy="685801"/>
                </a:xfrm>
                <a:prstGeom prst="rect">
                  <a:avLst/>
                </a:prstGeom>
              </p:spPr>
            </p:pic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8FED8C0-9EAB-15A7-7590-162C3E86A852}"/>
                    </a:ext>
                  </a:extLst>
                </p:cNvPr>
                <p:cNvSpPr/>
                <p:nvPr/>
              </p:nvSpPr>
              <p:spPr>
                <a:xfrm>
                  <a:off x="1432674" y="2979235"/>
                  <a:ext cx="684646" cy="685800"/>
                </a:xfrm>
                <a:prstGeom prst="rect">
                  <a:avLst/>
                </a:prstGeom>
                <a:noFill/>
                <a:ln w="38100">
                  <a:solidFill>
                    <a:srgbClr val="D9770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EA4C688-3211-2268-B207-21001C8C76B5}"/>
                  </a:ext>
                </a:extLst>
              </p:cNvPr>
              <p:cNvGrpSpPr/>
              <p:nvPr/>
            </p:nvGrpSpPr>
            <p:grpSpPr>
              <a:xfrm>
                <a:off x="7302903" y="-406379"/>
                <a:ext cx="692039" cy="685800"/>
                <a:chOff x="490042" y="3297357"/>
                <a:chExt cx="692039" cy="685800"/>
              </a:xfrm>
            </p:grpSpPr>
            <p:pic>
              <p:nvPicPr>
                <p:cNvPr id="26" name="Picture 25" descr="A close-up of a television screen&#10;&#10;AI-generated content may be incorrect.">
                  <a:extLst>
                    <a:ext uri="{FF2B5EF4-FFF2-40B4-BE49-F238E27FC236}">
                      <a16:creationId xmlns:a16="http://schemas.microsoft.com/office/drawing/2014/main" id="{E8414DA6-18FB-BE89-61AD-BE86D66F58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6281" y="3297357"/>
                  <a:ext cx="685800" cy="685800"/>
                </a:xfrm>
                <a:prstGeom prst="rect">
                  <a:avLst/>
                </a:prstGeom>
              </p:spPr>
            </p:pic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3137DC0F-2FDF-A481-DD81-85234377AEB0}"/>
                    </a:ext>
                  </a:extLst>
                </p:cNvPr>
                <p:cNvSpPr/>
                <p:nvPr/>
              </p:nvSpPr>
              <p:spPr>
                <a:xfrm>
                  <a:off x="490042" y="3297357"/>
                  <a:ext cx="685800" cy="685800"/>
                </a:xfrm>
                <a:prstGeom prst="rect">
                  <a:avLst/>
                </a:prstGeom>
                <a:noFill/>
                <a:ln w="38100">
                  <a:solidFill>
                    <a:srgbClr val="05966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0E3FD3D-3D6B-8622-1473-72F921B3FB05}"/>
                  </a:ext>
                </a:extLst>
              </p:cNvPr>
              <p:cNvGrpSpPr/>
              <p:nvPr/>
            </p:nvGrpSpPr>
            <p:grpSpPr>
              <a:xfrm>
                <a:off x="7302903" y="-1170929"/>
                <a:ext cx="687994" cy="685800"/>
                <a:chOff x="1341420" y="4320317"/>
                <a:chExt cx="687994" cy="685800"/>
              </a:xfrm>
            </p:grpSpPr>
            <p:pic>
              <p:nvPicPr>
                <p:cNvPr id="24" name="Picture 23" descr="A close-up of a colorful background&#10;&#10;AI-generated content may be incorrect.">
                  <a:extLst>
                    <a:ext uri="{FF2B5EF4-FFF2-40B4-BE49-F238E27FC236}">
                      <a16:creationId xmlns:a16="http://schemas.microsoft.com/office/drawing/2014/main" id="{DFD561B9-F198-0ABC-2F99-71351285F8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45801" y="4320317"/>
                  <a:ext cx="683613" cy="683614"/>
                </a:xfrm>
                <a:prstGeom prst="rect">
                  <a:avLst/>
                </a:prstGeom>
              </p:spPr>
            </p:pic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4E5F0AC-6A7B-F636-A8A1-572424C883C9}"/>
                    </a:ext>
                  </a:extLst>
                </p:cNvPr>
                <p:cNvSpPr/>
                <p:nvPr/>
              </p:nvSpPr>
              <p:spPr>
                <a:xfrm>
                  <a:off x="1341420" y="4320317"/>
                  <a:ext cx="685800" cy="685800"/>
                </a:xfrm>
                <a:prstGeom prst="rect">
                  <a:avLst/>
                </a:prstGeom>
                <a:noFill/>
                <a:ln w="38100">
                  <a:solidFill>
                    <a:srgbClr val="BE123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3FBCDB1-2B00-8D53-03CA-CC79B79AB3FE}"/>
                  </a:ext>
                </a:extLst>
              </p:cNvPr>
              <p:cNvGrpSpPr/>
              <p:nvPr/>
            </p:nvGrpSpPr>
            <p:grpSpPr>
              <a:xfrm>
                <a:off x="8060392" y="-1170929"/>
                <a:ext cx="692101" cy="685863"/>
                <a:chOff x="2941187" y="4000909"/>
                <a:chExt cx="692101" cy="685863"/>
              </a:xfrm>
            </p:grpSpPr>
            <p:pic>
              <p:nvPicPr>
                <p:cNvPr id="22" name="Picture 21" descr="A close-up of a television screen&#10;&#10;AI-generated content may be incorrect.">
                  <a:extLst>
                    <a:ext uri="{FF2B5EF4-FFF2-40B4-BE49-F238E27FC236}">
                      <a16:creationId xmlns:a16="http://schemas.microsoft.com/office/drawing/2014/main" id="{425C075B-815F-4379-D674-74C4436E86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47425" y="4000909"/>
                  <a:ext cx="685863" cy="685863"/>
                </a:xfrm>
                <a:prstGeom prst="rect">
                  <a:avLst/>
                </a:prstGeom>
              </p:spPr>
            </p:pic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0F8FE19C-D4EA-DAA7-16F8-3151AC44B9FE}"/>
                    </a:ext>
                  </a:extLst>
                </p:cNvPr>
                <p:cNvSpPr/>
                <p:nvPr/>
              </p:nvSpPr>
              <p:spPr>
                <a:xfrm>
                  <a:off x="2941187" y="4000909"/>
                  <a:ext cx="685800" cy="685800"/>
                </a:xfrm>
                <a:prstGeom prst="rect">
                  <a:avLst/>
                </a:prstGeom>
                <a:noFill/>
                <a:ln w="38100">
                  <a:solidFill>
                    <a:srgbClr val="7C3AE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</p:grp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BD92674-4AA8-01D1-9560-B1C08B4E1073}"/>
              </a:ext>
            </a:extLst>
          </p:cNvPr>
          <p:cNvCxnSpPr>
            <a:cxnSpLocks/>
          </p:cNvCxnSpPr>
          <p:nvPr/>
        </p:nvCxnSpPr>
        <p:spPr>
          <a:xfrm>
            <a:off x="2974042" y="2368573"/>
            <a:ext cx="61707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AF587D-6D5D-AF24-7C19-71F7C2FFD7A8}"/>
              </a:ext>
            </a:extLst>
          </p:cNvPr>
          <p:cNvGrpSpPr/>
          <p:nvPr/>
        </p:nvGrpSpPr>
        <p:grpSpPr>
          <a:xfrm>
            <a:off x="3917437" y="1793872"/>
            <a:ext cx="1753463" cy="1555755"/>
            <a:chOff x="3441962" y="1999621"/>
            <a:chExt cx="1901088" cy="1661144"/>
          </a:xfrm>
        </p:grpSpPr>
        <p:sp>
          <p:nvSpPr>
            <p:cNvPr id="16" name="Trapezoid 15">
              <a:extLst>
                <a:ext uri="{FF2B5EF4-FFF2-40B4-BE49-F238E27FC236}">
                  <a16:creationId xmlns:a16="http://schemas.microsoft.com/office/drawing/2014/main" id="{57D417BB-D3C9-4699-2AFA-15C8446D6625}"/>
                </a:ext>
              </a:extLst>
            </p:cNvPr>
            <p:cNvSpPr/>
            <p:nvPr/>
          </p:nvSpPr>
          <p:spPr>
            <a:xfrm rot="16200000">
              <a:off x="3561934" y="1879649"/>
              <a:ext cx="1661144" cy="1901088"/>
            </a:xfrm>
            <a:prstGeom prst="trapezoid">
              <a:avLst/>
            </a:prstGeom>
            <a:solidFill>
              <a:srgbClr val="D9E3EF"/>
            </a:solidFill>
            <a:ln cap="rnd">
              <a:solidFill>
                <a:srgbClr val="D9E3E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1F75229-FE47-F623-B558-01B64518A2DC}"/>
                </a:ext>
              </a:extLst>
            </p:cNvPr>
            <p:cNvSpPr txBox="1"/>
            <p:nvPr/>
          </p:nvSpPr>
          <p:spPr>
            <a:xfrm>
              <a:off x="3473081" y="2645526"/>
              <a:ext cx="1838850" cy="358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D191DB0-9BC9-5BA3-04A2-C85612D07728}"/>
              </a:ext>
            </a:extLst>
          </p:cNvPr>
          <p:cNvSpPr txBox="1"/>
          <p:nvPr/>
        </p:nvSpPr>
        <p:spPr>
          <a:xfrm>
            <a:off x="5006871" y="1716719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❄️</a:t>
            </a:r>
          </a:p>
        </p:txBody>
      </p:sp>
    </p:spTree>
    <p:extLst>
      <p:ext uri="{BB962C8B-B14F-4D97-AF65-F5344CB8AC3E}">
        <p14:creationId xmlns:p14="http://schemas.microsoft.com/office/powerpoint/2010/main" val="3003683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35238-349F-EBFC-8FB4-4531196D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98F77-B497-42D0-26BA-554733F8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– optimize initial noise for output diversity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F4702EF-3221-577A-C7C9-3103DE3DA81A}"/>
              </a:ext>
            </a:extLst>
          </p:cNvPr>
          <p:cNvSpPr/>
          <p:nvPr/>
        </p:nvSpPr>
        <p:spPr>
          <a:xfrm>
            <a:off x="649800" y="2057830"/>
            <a:ext cx="2168991" cy="1961667"/>
          </a:xfrm>
          <a:prstGeom prst="roundRect">
            <a:avLst/>
          </a:prstGeom>
          <a:solidFill>
            <a:schemeClr val="tx1">
              <a:alpha val="5000"/>
            </a:schemeClr>
          </a:solidFill>
          <a:ln>
            <a:solidFill>
              <a:srgbClr val="CBD5E1">
                <a:alpha val="1037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8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020B298-1F66-7DFC-22B0-F9821E63D793}"/>
              </a:ext>
            </a:extLst>
          </p:cNvPr>
          <p:cNvGrpSpPr/>
          <p:nvPr/>
        </p:nvGrpSpPr>
        <p:grpSpPr>
          <a:xfrm>
            <a:off x="649800" y="1494303"/>
            <a:ext cx="2168991" cy="525540"/>
            <a:chOff x="506866" y="1475942"/>
            <a:chExt cx="2488125" cy="52554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D2AC461C-D3D3-6869-5F81-23E09F702D71}"/>
                </a:ext>
              </a:extLst>
            </p:cNvPr>
            <p:cNvSpPr/>
            <p:nvPr/>
          </p:nvSpPr>
          <p:spPr>
            <a:xfrm>
              <a:off x="520421" y="1475942"/>
              <a:ext cx="2474570" cy="525540"/>
            </a:xfrm>
            <a:prstGeom prst="roundRect">
              <a:avLst/>
            </a:prstGeom>
            <a:solidFill>
              <a:srgbClr val="0001FF">
                <a:alpha val="5000"/>
              </a:srgbClr>
            </a:solidFill>
            <a:ln>
              <a:solidFill>
                <a:srgbClr val="CBD5E1">
                  <a:alpha val="1037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8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442D588-B624-CE8B-BB0E-983A09C244C3}"/>
                </a:ext>
              </a:extLst>
            </p:cNvPr>
            <p:cNvSpPr txBox="1"/>
            <p:nvPr/>
          </p:nvSpPr>
          <p:spPr>
            <a:xfrm>
              <a:off x="506866" y="1567102"/>
              <a:ext cx="24745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01FF"/>
                  </a:solidFill>
                  <a:latin typeface="Comic Sans MS" panose="030F0902030302020204" pitchFamily="66" charset="0"/>
                </a:rPr>
                <a:t>“a photo of a cat”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9A01C0B-09C9-2A4C-7E81-D651086BC3D1}"/>
              </a:ext>
            </a:extLst>
          </p:cNvPr>
          <p:cNvSpPr txBox="1"/>
          <p:nvPr/>
        </p:nvSpPr>
        <p:spPr>
          <a:xfrm>
            <a:off x="428196" y="1051540"/>
            <a:ext cx="2474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ple Color Emoji" pitchFamily="2" charset="0"/>
                <a:ea typeface="Apple Color Emoji" pitchFamily="2" charset="0"/>
              </a:rPr>
              <a:t>❄️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0EE615F-F614-3883-FBD0-1F6726F025DE}"/>
              </a:ext>
            </a:extLst>
          </p:cNvPr>
          <p:cNvGrpSpPr/>
          <p:nvPr/>
        </p:nvGrpSpPr>
        <p:grpSpPr>
          <a:xfrm>
            <a:off x="311700" y="2233154"/>
            <a:ext cx="2858579" cy="1725327"/>
            <a:chOff x="496198" y="2392995"/>
            <a:chExt cx="4005650" cy="238607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B3A264-5076-BD11-AE17-1E5FA7ED7B73}"/>
                </a:ext>
              </a:extLst>
            </p:cNvPr>
            <p:cNvSpPr txBox="1"/>
            <p:nvPr/>
          </p:nvSpPr>
          <p:spPr>
            <a:xfrm>
              <a:off x="496198" y="4310857"/>
              <a:ext cx="4005650" cy="46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Initialization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4B752B4-02E8-97CF-E2A4-11F81D3D0BDC}"/>
                </a:ext>
              </a:extLst>
            </p:cNvPr>
            <p:cNvGrpSpPr/>
            <p:nvPr/>
          </p:nvGrpSpPr>
          <p:grpSpPr>
            <a:xfrm>
              <a:off x="1595020" y="2392995"/>
              <a:ext cx="1791673" cy="1791674"/>
              <a:chOff x="7302903" y="-1170929"/>
              <a:chExt cx="1457744" cy="145035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225D514-1D38-0ECB-6F70-0DA3303CD507}"/>
                  </a:ext>
                </a:extLst>
              </p:cNvPr>
              <p:cNvGrpSpPr/>
              <p:nvPr/>
            </p:nvGrpSpPr>
            <p:grpSpPr>
              <a:xfrm>
                <a:off x="8072870" y="-406379"/>
                <a:ext cx="687777" cy="685801"/>
                <a:chOff x="1432674" y="2979235"/>
                <a:chExt cx="687777" cy="685801"/>
              </a:xfrm>
            </p:grpSpPr>
            <p:pic>
              <p:nvPicPr>
                <p:cNvPr id="28" name="Picture 27" descr="A close-up of a colorful background&#10;&#10;AI-generated content may be incorrect.">
                  <a:extLst>
                    <a:ext uri="{FF2B5EF4-FFF2-40B4-BE49-F238E27FC236}">
                      <a16:creationId xmlns:a16="http://schemas.microsoft.com/office/drawing/2014/main" id="{5A684DEF-BE06-BA15-3A4A-2A880C349C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34651" y="2979235"/>
                  <a:ext cx="685800" cy="685801"/>
                </a:xfrm>
                <a:prstGeom prst="rect">
                  <a:avLst/>
                </a:prstGeom>
              </p:spPr>
            </p:pic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7FB1D6C3-7DA6-D932-745C-FB12FD7A84B1}"/>
                    </a:ext>
                  </a:extLst>
                </p:cNvPr>
                <p:cNvSpPr/>
                <p:nvPr/>
              </p:nvSpPr>
              <p:spPr>
                <a:xfrm>
                  <a:off x="1432674" y="2979235"/>
                  <a:ext cx="684646" cy="685800"/>
                </a:xfrm>
                <a:prstGeom prst="rect">
                  <a:avLst/>
                </a:prstGeom>
                <a:noFill/>
                <a:ln w="38100">
                  <a:solidFill>
                    <a:srgbClr val="D9770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3960534-5891-2EEA-7C86-0F063C040A25}"/>
                  </a:ext>
                </a:extLst>
              </p:cNvPr>
              <p:cNvGrpSpPr/>
              <p:nvPr/>
            </p:nvGrpSpPr>
            <p:grpSpPr>
              <a:xfrm>
                <a:off x="7302903" y="-406379"/>
                <a:ext cx="692039" cy="685800"/>
                <a:chOff x="490042" y="3297357"/>
                <a:chExt cx="692039" cy="685800"/>
              </a:xfrm>
            </p:grpSpPr>
            <p:pic>
              <p:nvPicPr>
                <p:cNvPr id="26" name="Picture 25" descr="A close-up of a television screen&#10;&#10;AI-generated content may be incorrect.">
                  <a:extLst>
                    <a:ext uri="{FF2B5EF4-FFF2-40B4-BE49-F238E27FC236}">
                      <a16:creationId xmlns:a16="http://schemas.microsoft.com/office/drawing/2014/main" id="{95B65356-DB2A-F270-7EB0-EAE75C0C70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6281" y="3297357"/>
                  <a:ext cx="685800" cy="685800"/>
                </a:xfrm>
                <a:prstGeom prst="rect">
                  <a:avLst/>
                </a:prstGeom>
              </p:spPr>
            </p:pic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2509C335-08F5-476E-D491-9318D3BB19B1}"/>
                    </a:ext>
                  </a:extLst>
                </p:cNvPr>
                <p:cNvSpPr/>
                <p:nvPr/>
              </p:nvSpPr>
              <p:spPr>
                <a:xfrm>
                  <a:off x="490042" y="3297357"/>
                  <a:ext cx="685800" cy="685800"/>
                </a:xfrm>
                <a:prstGeom prst="rect">
                  <a:avLst/>
                </a:prstGeom>
                <a:noFill/>
                <a:ln w="38100">
                  <a:solidFill>
                    <a:srgbClr val="05966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E6CF519-86BC-D151-F12D-A8ACEAFA5529}"/>
                  </a:ext>
                </a:extLst>
              </p:cNvPr>
              <p:cNvGrpSpPr/>
              <p:nvPr/>
            </p:nvGrpSpPr>
            <p:grpSpPr>
              <a:xfrm>
                <a:off x="7302903" y="-1170929"/>
                <a:ext cx="687994" cy="685800"/>
                <a:chOff x="1341420" y="4320317"/>
                <a:chExt cx="687994" cy="685800"/>
              </a:xfrm>
            </p:grpSpPr>
            <p:pic>
              <p:nvPicPr>
                <p:cNvPr id="24" name="Picture 23" descr="A close-up of a colorful background&#10;&#10;AI-generated content may be incorrect.">
                  <a:extLst>
                    <a:ext uri="{FF2B5EF4-FFF2-40B4-BE49-F238E27FC236}">
                      <a16:creationId xmlns:a16="http://schemas.microsoft.com/office/drawing/2014/main" id="{C3DE8383-3E34-04AC-9251-DCDC9BAA61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45801" y="4320317"/>
                  <a:ext cx="683613" cy="683614"/>
                </a:xfrm>
                <a:prstGeom prst="rect">
                  <a:avLst/>
                </a:prstGeom>
              </p:spPr>
            </p:pic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3D75966-34AF-1949-BA52-8F186A530DB1}"/>
                    </a:ext>
                  </a:extLst>
                </p:cNvPr>
                <p:cNvSpPr/>
                <p:nvPr/>
              </p:nvSpPr>
              <p:spPr>
                <a:xfrm>
                  <a:off x="1341420" y="4320317"/>
                  <a:ext cx="685800" cy="685800"/>
                </a:xfrm>
                <a:prstGeom prst="rect">
                  <a:avLst/>
                </a:prstGeom>
                <a:noFill/>
                <a:ln w="38100">
                  <a:solidFill>
                    <a:srgbClr val="BE123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95AA92A-32ED-B46D-0539-5AA3C85381F7}"/>
                  </a:ext>
                </a:extLst>
              </p:cNvPr>
              <p:cNvGrpSpPr/>
              <p:nvPr/>
            </p:nvGrpSpPr>
            <p:grpSpPr>
              <a:xfrm>
                <a:off x="8060392" y="-1170929"/>
                <a:ext cx="692101" cy="685863"/>
                <a:chOff x="2941187" y="4000909"/>
                <a:chExt cx="692101" cy="685863"/>
              </a:xfrm>
            </p:grpSpPr>
            <p:pic>
              <p:nvPicPr>
                <p:cNvPr id="22" name="Picture 21" descr="A close-up of a television screen&#10;&#10;AI-generated content may be incorrect.">
                  <a:extLst>
                    <a:ext uri="{FF2B5EF4-FFF2-40B4-BE49-F238E27FC236}">
                      <a16:creationId xmlns:a16="http://schemas.microsoft.com/office/drawing/2014/main" id="{98C95BF4-9675-CD77-FE24-BB348F06B2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47425" y="4000909"/>
                  <a:ext cx="685863" cy="685863"/>
                </a:xfrm>
                <a:prstGeom prst="rect">
                  <a:avLst/>
                </a:prstGeom>
              </p:spPr>
            </p:pic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5F7348CA-21C2-250A-91B9-05CC10C7E798}"/>
                    </a:ext>
                  </a:extLst>
                </p:cNvPr>
                <p:cNvSpPr/>
                <p:nvPr/>
              </p:nvSpPr>
              <p:spPr>
                <a:xfrm>
                  <a:off x="2941187" y="4000909"/>
                  <a:ext cx="685800" cy="685800"/>
                </a:xfrm>
                <a:prstGeom prst="rect">
                  <a:avLst/>
                </a:prstGeom>
                <a:noFill/>
                <a:ln w="38100">
                  <a:solidFill>
                    <a:srgbClr val="7C3AE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EF55605-F060-33F6-BCBE-4EBFFD93D2B5}"/>
              </a:ext>
            </a:extLst>
          </p:cNvPr>
          <p:cNvGrpSpPr/>
          <p:nvPr/>
        </p:nvGrpSpPr>
        <p:grpSpPr>
          <a:xfrm>
            <a:off x="6716179" y="1121874"/>
            <a:ext cx="1285488" cy="1295866"/>
            <a:chOff x="10572021" y="208822"/>
            <a:chExt cx="1285488" cy="1295866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896F65D-0BBD-E587-58B2-CB3C8A71AE1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243045" y="208822"/>
              <a:ext cx="613254" cy="612650"/>
              <a:chOff x="3531203" y="1261075"/>
              <a:chExt cx="519554" cy="519555"/>
            </a:xfrm>
          </p:grpSpPr>
          <p:pic>
            <p:nvPicPr>
              <p:cNvPr id="62" name="Picture 61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9CD1183E-1793-786E-6147-C50DAB70B4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31203" y="1261075"/>
                <a:ext cx="519554" cy="519554"/>
              </a:xfrm>
              <a:prstGeom prst="rect">
                <a:avLst/>
              </a:prstGeom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4A62F03-FFB1-3ECB-BBD9-1E3541AEE7F2}"/>
                  </a:ext>
                </a:extLst>
              </p:cNvPr>
              <p:cNvSpPr/>
              <p:nvPr/>
            </p:nvSpPr>
            <p:spPr>
              <a:xfrm>
                <a:off x="3531204" y="1261076"/>
                <a:ext cx="519041" cy="519554"/>
              </a:xfrm>
              <a:prstGeom prst="rect">
                <a:avLst/>
              </a:prstGeom>
              <a:noFill/>
              <a:ln w="38100">
                <a:solidFill>
                  <a:srgbClr val="7C3AE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53E27FE-34A6-F931-79F6-972D0DDB2BE8}"/>
                </a:ext>
              </a:extLst>
            </p:cNvPr>
            <p:cNvGrpSpPr/>
            <p:nvPr/>
          </p:nvGrpSpPr>
          <p:grpSpPr>
            <a:xfrm>
              <a:off x="11243045" y="892038"/>
              <a:ext cx="614464" cy="612650"/>
              <a:chOff x="4825864" y="1261074"/>
              <a:chExt cx="521457" cy="519556"/>
            </a:xfrm>
          </p:grpSpPr>
          <p:pic>
            <p:nvPicPr>
              <p:cNvPr id="60" name="Picture 59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AD48E226-FF76-7D34-A911-B6504B7E53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25864" y="1261074"/>
                <a:ext cx="519555" cy="519554"/>
              </a:xfrm>
              <a:prstGeom prst="rect">
                <a:avLst/>
              </a:prstGeom>
            </p:spPr>
          </p:pic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A8D0110-296B-CF9C-9C66-D7F818E99F05}"/>
                  </a:ext>
                </a:extLst>
              </p:cNvPr>
              <p:cNvSpPr/>
              <p:nvPr/>
            </p:nvSpPr>
            <p:spPr>
              <a:xfrm>
                <a:off x="4827405" y="1261076"/>
                <a:ext cx="519916" cy="519554"/>
              </a:xfrm>
              <a:prstGeom prst="rect">
                <a:avLst/>
              </a:prstGeom>
              <a:noFill/>
              <a:ln w="38100">
                <a:solidFill>
                  <a:srgbClr val="D977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51E7851-1026-DBF2-EA9E-FF55D352227E}"/>
                </a:ext>
              </a:extLst>
            </p:cNvPr>
            <p:cNvGrpSpPr/>
            <p:nvPr/>
          </p:nvGrpSpPr>
          <p:grpSpPr>
            <a:xfrm>
              <a:off x="10572021" y="892038"/>
              <a:ext cx="613254" cy="612648"/>
              <a:chOff x="3531204" y="2542532"/>
              <a:chExt cx="519554" cy="519554"/>
            </a:xfrm>
          </p:grpSpPr>
          <p:pic>
            <p:nvPicPr>
              <p:cNvPr id="58" name="Picture 57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7BCC38B6-FBA5-BA94-247B-4421B3F959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31204" y="2542532"/>
                <a:ext cx="519554" cy="519554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87FD0FA-170A-219D-CF2C-1036B7AECF6A}"/>
                  </a:ext>
                </a:extLst>
              </p:cNvPr>
              <p:cNvSpPr/>
              <p:nvPr/>
            </p:nvSpPr>
            <p:spPr>
              <a:xfrm>
                <a:off x="3531204" y="2542532"/>
                <a:ext cx="519041" cy="519554"/>
              </a:xfrm>
              <a:prstGeom prst="rect">
                <a:avLst/>
              </a:prstGeom>
              <a:noFill/>
              <a:ln w="38100">
                <a:solidFill>
                  <a:srgbClr val="05966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5257743-3A04-7148-860F-18D3F9ADE9A4}"/>
                </a:ext>
              </a:extLst>
            </p:cNvPr>
            <p:cNvGrpSpPr/>
            <p:nvPr/>
          </p:nvGrpSpPr>
          <p:grpSpPr>
            <a:xfrm>
              <a:off x="10572626" y="208824"/>
              <a:ext cx="613256" cy="612648"/>
              <a:chOff x="4847378" y="2542532"/>
              <a:chExt cx="519555" cy="519554"/>
            </a:xfrm>
          </p:grpSpPr>
          <p:pic>
            <p:nvPicPr>
              <p:cNvPr id="56" name="Picture 55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41B99A59-E3DD-C12F-6505-6E9488E05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47379" y="2542532"/>
                <a:ext cx="519554" cy="519554"/>
              </a:xfrm>
              <a:prstGeom prst="rect">
                <a:avLst/>
              </a:prstGeom>
            </p:spPr>
          </p:pic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A93381A-4EEF-BFD1-96C6-D8D735B74293}"/>
                  </a:ext>
                </a:extLst>
              </p:cNvPr>
              <p:cNvSpPr/>
              <p:nvPr/>
            </p:nvSpPr>
            <p:spPr>
              <a:xfrm>
                <a:off x="4847378" y="2542532"/>
                <a:ext cx="519041" cy="519554"/>
              </a:xfrm>
              <a:prstGeom prst="rect">
                <a:avLst/>
              </a:prstGeom>
              <a:noFill/>
              <a:ln w="38100">
                <a:solidFill>
                  <a:srgbClr val="BE12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9F98F62-EA97-0428-7173-FBC4ADA9D82E}"/>
              </a:ext>
            </a:extLst>
          </p:cNvPr>
          <p:cNvCxnSpPr>
            <a:cxnSpLocks/>
          </p:cNvCxnSpPr>
          <p:nvPr/>
        </p:nvCxnSpPr>
        <p:spPr>
          <a:xfrm>
            <a:off x="2974042" y="2368573"/>
            <a:ext cx="61707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A846C62-A2ED-35C0-E743-E716D65F6A43}"/>
              </a:ext>
            </a:extLst>
          </p:cNvPr>
          <p:cNvCxnSpPr>
            <a:cxnSpLocks/>
          </p:cNvCxnSpPr>
          <p:nvPr/>
        </p:nvCxnSpPr>
        <p:spPr>
          <a:xfrm>
            <a:off x="5910586" y="2067998"/>
            <a:ext cx="61707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AE02FD-C186-EBD3-C92B-1FBE3E438276}"/>
              </a:ext>
            </a:extLst>
          </p:cNvPr>
          <p:cNvSpPr txBox="1"/>
          <p:nvPr/>
        </p:nvSpPr>
        <p:spPr>
          <a:xfrm>
            <a:off x="5011026" y="1873325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❄️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3F2782-D4ED-A001-EA02-63021D36D0EB}"/>
              </a:ext>
            </a:extLst>
          </p:cNvPr>
          <p:cNvGrpSpPr/>
          <p:nvPr/>
        </p:nvGrpSpPr>
        <p:grpSpPr>
          <a:xfrm>
            <a:off x="3917437" y="1793872"/>
            <a:ext cx="1753463" cy="1555755"/>
            <a:chOff x="3441962" y="1999621"/>
            <a:chExt cx="1901088" cy="1661144"/>
          </a:xfrm>
        </p:grpSpPr>
        <p:sp>
          <p:nvSpPr>
            <p:cNvPr id="31" name="Trapezoid 30">
              <a:extLst>
                <a:ext uri="{FF2B5EF4-FFF2-40B4-BE49-F238E27FC236}">
                  <a16:creationId xmlns:a16="http://schemas.microsoft.com/office/drawing/2014/main" id="{D1818D03-BE7B-3DB2-4A62-1C6504902E49}"/>
                </a:ext>
              </a:extLst>
            </p:cNvPr>
            <p:cNvSpPr/>
            <p:nvPr/>
          </p:nvSpPr>
          <p:spPr>
            <a:xfrm rot="16200000">
              <a:off x="3561934" y="1879649"/>
              <a:ext cx="1661144" cy="1901088"/>
            </a:xfrm>
            <a:prstGeom prst="trapezoid">
              <a:avLst/>
            </a:prstGeom>
            <a:solidFill>
              <a:srgbClr val="D9E3EF"/>
            </a:solidFill>
            <a:ln cap="rnd">
              <a:solidFill>
                <a:srgbClr val="D9E3E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F67C49E-2D46-AB00-AF27-076114DDF21A}"/>
                </a:ext>
              </a:extLst>
            </p:cNvPr>
            <p:cNvSpPr txBox="1"/>
            <p:nvPr/>
          </p:nvSpPr>
          <p:spPr>
            <a:xfrm>
              <a:off x="3473081" y="2645526"/>
              <a:ext cx="1838850" cy="358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1DE543C-F050-F4D4-50E1-E51C8C222D7A}"/>
              </a:ext>
            </a:extLst>
          </p:cNvPr>
          <p:cNvSpPr txBox="1"/>
          <p:nvPr/>
        </p:nvSpPr>
        <p:spPr>
          <a:xfrm>
            <a:off x="5006871" y="1716719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❄️</a:t>
            </a:r>
          </a:p>
        </p:txBody>
      </p:sp>
    </p:spTree>
    <p:extLst>
      <p:ext uri="{BB962C8B-B14F-4D97-AF65-F5344CB8AC3E}">
        <p14:creationId xmlns:p14="http://schemas.microsoft.com/office/powerpoint/2010/main" val="2603289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994B-EE03-3777-8EC5-151810836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A8E0-4141-0E20-82E2-85F4AF30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– optimize initial noise for output diversity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0361268-ABE2-E1DA-4C64-58DF6C607EB4}"/>
              </a:ext>
            </a:extLst>
          </p:cNvPr>
          <p:cNvSpPr/>
          <p:nvPr/>
        </p:nvSpPr>
        <p:spPr>
          <a:xfrm>
            <a:off x="649800" y="2057830"/>
            <a:ext cx="2168991" cy="1961667"/>
          </a:xfrm>
          <a:prstGeom prst="roundRect">
            <a:avLst/>
          </a:prstGeom>
          <a:solidFill>
            <a:schemeClr val="tx1">
              <a:alpha val="5000"/>
            </a:schemeClr>
          </a:solidFill>
          <a:ln>
            <a:solidFill>
              <a:srgbClr val="CBD5E1">
                <a:alpha val="1037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8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90E4E3A-7659-3169-CA8A-535092A2970E}"/>
              </a:ext>
            </a:extLst>
          </p:cNvPr>
          <p:cNvGrpSpPr/>
          <p:nvPr/>
        </p:nvGrpSpPr>
        <p:grpSpPr>
          <a:xfrm>
            <a:off x="649800" y="1494303"/>
            <a:ext cx="2168991" cy="525540"/>
            <a:chOff x="506866" y="1475942"/>
            <a:chExt cx="2488125" cy="52554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A0D6726D-2DC7-C6A4-D2FC-BDF35ADA6739}"/>
                </a:ext>
              </a:extLst>
            </p:cNvPr>
            <p:cNvSpPr/>
            <p:nvPr/>
          </p:nvSpPr>
          <p:spPr>
            <a:xfrm>
              <a:off x="520421" y="1475942"/>
              <a:ext cx="2474570" cy="525540"/>
            </a:xfrm>
            <a:prstGeom prst="roundRect">
              <a:avLst/>
            </a:prstGeom>
            <a:solidFill>
              <a:srgbClr val="0001FF">
                <a:alpha val="5000"/>
              </a:srgbClr>
            </a:solidFill>
            <a:ln>
              <a:solidFill>
                <a:srgbClr val="CBD5E1">
                  <a:alpha val="1037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8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94D78C-B26E-D891-D279-AC380991AC4D}"/>
                </a:ext>
              </a:extLst>
            </p:cNvPr>
            <p:cNvSpPr txBox="1"/>
            <p:nvPr/>
          </p:nvSpPr>
          <p:spPr>
            <a:xfrm>
              <a:off x="506866" y="1567102"/>
              <a:ext cx="24745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01FF"/>
                  </a:solidFill>
                  <a:latin typeface="Comic Sans MS" panose="030F0902030302020204" pitchFamily="66" charset="0"/>
                </a:rPr>
                <a:t>“a photo of a cat”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D3E23FF-0C43-7F0F-CB86-3EC0D7F4D5B1}"/>
              </a:ext>
            </a:extLst>
          </p:cNvPr>
          <p:cNvSpPr txBox="1"/>
          <p:nvPr/>
        </p:nvSpPr>
        <p:spPr>
          <a:xfrm>
            <a:off x="428196" y="1051540"/>
            <a:ext cx="2474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ple Color Emoji" pitchFamily="2" charset="0"/>
                <a:ea typeface="Apple Color Emoji" pitchFamily="2" charset="0"/>
              </a:rPr>
              <a:t>❄️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0ECFABE-24D3-46E2-0DE2-4CEB2AB62471}"/>
              </a:ext>
            </a:extLst>
          </p:cNvPr>
          <p:cNvGrpSpPr/>
          <p:nvPr/>
        </p:nvGrpSpPr>
        <p:grpSpPr>
          <a:xfrm>
            <a:off x="311700" y="2233154"/>
            <a:ext cx="2858579" cy="1725327"/>
            <a:chOff x="496198" y="2392995"/>
            <a:chExt cx="4005650" cy="238607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8281ECC-1CDD-E750-095F-BD83892C0202}"/>
                </a:ext>
              </a:extLst>
            </p:cNvPr>
            <p:cNvSpPr txBox="1"/>
            <p:nvPr/>
          </p:nvSpPr>
          <p:spPr>
            <a:xfrm>
              <a:off x="496198" y="4310857"/>
              <a:ext cx="4005650" cy="46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Initialization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910B488-E87E-C525-5321-3EEFA7911B1A}"/>
                </a:ext>
              </a:extLst>
            </p:cNvPr>
            <p:cNvGrpSpPr/>
            <p:nvPr/>
          </p:nvGrpSpPr>
          <p:grpSpPr>
            <a:xfrm>
              <a:off x="1595020" y="2392995"/>
              <a:ext cx="1791673" cy="1791674"/>
              <a:chOff x="7302903" y="-1170929"/>
              <a:chExt cx="1457744" cy="145035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06F337D-B98E-9153-1EF3-64B8E2FD8C52}"/>
                  </a:ext>
                </a:extLst>
              </p:cNvPr>
              <p:cNvGrpSpPr/>
              <p:nvPr/>
            </p:nvGrpSpPr>
            <p:grpSpPr>
              <a:xfrm>
                <a:off x="8072870" y="-406379"/>
                <a:ext cx="687777" cy="685801"/>
                <a:chOff x="1432674" y="2979235"/>
                <a:chExt cx="687777" cy="685801"/>
              </a:xfrm>
            </p:grpSpPr>
            <p:pic>
              <p:nvPicPr>
                <p:cNvPr id="28" name="Picture 27" descr="A close-up of a colorful background&#10;&#10;AI-generated content may be incorrect.">
                  <a:extLst>
                    <a:ext uri="{FF2B5EF4-FFF2-40B4-BE49-F238E27FC236}">
                      <a16:creationId xmlns:a16="http://schemas.microsoft.com/office/drawing/2014/main" id="{7C3DA962-0360-F867-085D-CCB2028EFA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34651" y="2979235"/>
                  <a:ext cx="685800" cy="685801"/>
                </a:xfrm>
                <a:prstGeom prst="rect">
                  <a:avLst/>
                </a:prstGeom>
              </p:spPr>
            </p:pic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344D6DC6-AA13-9E22-800D-D0DD97A8E797}"/>
                    </a:ext>
                  </a:extLst>
                </p:cNvPr>
                <p:cNvSpPr/>
                <p:nvPr/>
              </p:nvSpPr>
              <p:spPr>
                <a:xfrm>
                  <a:off x="1432674" y="2979235"/>
                  <a:ext cx="684646" cy="685800"/>
                </a:xfrm>
                <a:prstGeom prst="rect">
                  <a:avLst/>
                </a:prstGeom>
                <a:noFill/>
                <a:ln w="38100">
                  <a:solidFill>
                    <a:srgbClr val="D9770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5627CBB5-C9B6-BB49-37A0-2F56FB71ACCC}"/>
                  </a:ext>
                </a:extLst>
              </p:cNvPr>
              <p:cNvGrpSpPr/>
              <p:nvPr/>
            </p:nvGrpSpPr>
            <p:grpSpPr>
              <a:xfrm>
                <a:off x="7302903" y="-406379"/>
                <a:ext cx="692039" cy="685800"/>
                <a:chOff x="490042" y="3297357"/>
                <a:chExt cx="692039" cy="685800"/>
              </a:xfrm>
            </p:grpSpPr>
            <p:pic>
              <p:nvPicPr>
                <p:cNvPr id="26" name="Picture 25" descr="A close-up of a television screen&#10;&#10;AI-generated content may be incorrect.">
                  <a:extLst>
                    <a:ext uri="{FF2B5EF4-FFF2-40B4-BE49-F238E27FC236}">
                      <a16:creationId xmlns:a16="http://schemas.microsoft.com/office/drawing/2014/main" id="{192164D6-4F03-8EC6-7267-954E7A57FF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6281" y="3297357"/>
                  <a:ext cx="685800" cy="685800"/>
                </a:xfrm>
                <a:prstGeom prst="rect">
                  <a:avLst/>
                </a:prstGeom>
              </p:spPr>
            </p:pic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9BDDE87E-328B-6E4E-6204-379D7BAA721A}"/>
                    </a:ext>
                  </a:extLst>
                </p:cNvPr>
                <p:cNvSpPr/>
                <p:nvPr/>
              </p:nvSpPr>
              <p:spPr>
                <a:xfrm>
                  <a:off x="490042" y="3297357"/>
                  <a:ext cx="685800" cy="685800"/>
                </a:xfrm>
                <a:prstGeom prst="rect">
                  <a:avLst/>
                </a:prstGeom>
                <a:noFill/>
                <a:ln w="38100">
                  <a:solidFill>
                    <a:srgbClr val="05966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0EB4D26-02D6-2BA8-49D4-AA1E8D066D8E}"/>
                  </a:ext>
                </a:extLst>
              </p:cNvPr>
              <p:cNvGrpSpPr/>
              <p:nvPr/>
            </p:nvGrpSpPr>
            <p:grpSpPr>
              <a:xfrm>
                <a:off x="7302903" y="-1170929"/>
                <a:ext cx="687994" cy="685800"/>
                <a:chOff x="1341420" y="4320317"/>
                <a:chExt cx="687994" cy="685800"/>
              </a:xfrm>
            </p:grpSpPr>
            <p:pic>
              <p:nvPicPr>
                <p:cNvPr id="24" name="Picture 23" descr="A close-up of a colorful background&#10;&#10;AI-generated content may be incorrect.">
                  <a:extLst>
                    <a:ext uri="{FF2B5EF4-FFF2-40B4-BE49-F238E27FC236}">
                      <a16:creationId xmlns:a16="http://schemas.microsoft.com/office/drawing/2014/main" id="{DC35E591-B28E-412F-004B-1F4C8505C7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45801" y="4320317"/>
                  <a:ext cx="683613" cy="683614"/>
                </a:xfrm>
                <a:prstGeom prst="rect">
                  <a:avLst/>
                </a:prstGeom>
              </p:spPr>
            </p:pic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DB15452-B09D-DA68-8B98-36CB62A5EF85}"/>
                    </a:ext>
                  </a:extLst>
                </p:cNvPr>
                <p:cNvSpPr/>
                <p:nvPr/>
              </p:nvSpPr>
              <p:spPr>
                <a:xfrm>
                  <a:off x="1341420" y="4320317"/>
                  <a:ext cx="685800" cy="685800"/>
                </a:xfrm>
                <a:prstGeom prst="rect">
                  <a:avLst/>
                </a:prstGeom>
                <a:noFill/>
                <a:ln w="38100">
                  <a:solidFill>
                    <a:srgbClr val="BE123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FC3F422-CB2A-64D4-3802-976FC7BB5553}"/>
                  </a:ext>
                </a:extLst>
              </p:cNvPr>
              <p:cNvGrpSpPr/>
              <p:nvPr/>
            </p:nvGrpSpPr>
            <p:grpSpPr>
              <a:xfrm>
                <a:off x="8060392" y="-1170929"/>
                <a:ext cx="692101" cy="685863"/>
                <a:chOff x="2941187" y="4000909"/>
                <a:chExt cx="692101" cy="685863"/>
              </a:xfrm>
            </p:grpSpPr>
            <p:pic>
              <p:nvPicPr>
                <p:cNvPr id="22" name="Picture 21" descr="A close-up of a television screen&#10;&#10;AI-generated content may be incorrect.">
                  <a:extLst>
                    <a:ext uri="{FF2B5EF4-FFF2-40B4-BE49-F238E27FC236}">
                      <a16:creationId xmlns:a16="http://schemas.microsoft.com/office/drawing/2014/main" id="{BB8CA30A-5654-9BDC-A89F-BF46EBAC2F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47425" y="4000909"/>
                  <a:ext cx="685863" cy="685863"/>
                </a:xfrm>
                <a:prstGeom prst="rect">
                  <a:avLst/>
                </a:prstGeom>
              </p:spPr>
            </p:pic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50E9EA40-080E-B821-79ED-6DB08524BFCD}"/>
                    </a:ext>
                  </a:extLst>
                </p:cNvPr>
                <p:cNvSpPr/>
                <p:nvPr/>
              </p:nvSpPr>
              <p:spPr>
                <a:xfrm>
                  <a:off x="2941187" y="4000909"/>
                  <a:ext cx="685800" cy="685800"/>
                </a:xfrm>
                <a:prstGeom prst="rect">
                  <a:avLst/>
                </a:prstGeom>
                <a:noFill/>
                <a:ln w="38100">
                  <a:solidFill>
                    <a:srgbClr val="7C3AE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/>
                </a:p>
              </p:txBody>
            </p:sp>
          </p:grp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B8415BD-4FE9-3478-40E5-6906731F7956}"/>
              </a:ext>
            </a:extLst>
          </p:cNvPr>
          <p:cNvGrpSpPr/>
          <p:nvPr/>
        </p:nvGrpSpPr>
        <p:grpSpPr>
          <a:xfrm>
            <a:off x="6716179" y="1121874"/>
            <a:ext cx="1285488" cy="1295866"/>
            <a:chOff x="10572021" y="208822"/>
            <a:chExt cx="1285488" cy="1295866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1483BA7A-7C06-03D2-C879-5327FC31DA1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243045" y="208822"/>
              <a:ext cx="613254" cy="612650"/>
              <a:chOff x="3531203" y="1261075"/>
              <a:chExt cx="519554" cy="519555"/>
            </a:xfrm>
          </p:grpSpPr>
          <p:pic>
            <p:nvPicPr>
              <p:cNvPr id="62" name="Picture 61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40D2BDB2-834B-ED1E-BD36-02AC136090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31203" y="1261075"/>
                <a:ext cx="519554" cy="519554"/>
              </a:xfrm>
              <a:prstGeom prst="rect">
                <a:avLst/>
              </a:prstGeom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1FD3749F-EA5B-C99D-49C9-CFF7F63FE314}"/>
                  </a:ext>
                </a:extLst>
              </p:cNvPr>
              <p:cNvSpPr/>
              <p:nvPr/>
            </p:nvSpPr>
            <p:spPr>
              <a:xfrm>
                <a:off x="3531204" y="1261076"/>
                <a:ext cx="519041" cy="519554"/>
              </a:xfrm>
              <a:prstGeom prst="rect">
                <a:avLst/>
              </a:prstGeom>
              <a:noFill/>
              <a:ln w="38100">
                <a:solidFill>
                  <a:srgbClr val="7C3AE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FD4067E-BE77-99AB-0888-3F6801255121}"/>
                </a:ext>
              </a:extLst>
            </p:cNvPr>
            <p:cNvGrpSpPr/>
            <p:nvPr/>
          </p:nvGrpSpPr>
          <p:grpSpPr>
            <a:xfrm>
              <a:off x="11243045" y="892038"/>
              <a:ext cx="614464" cy="612650"/>
              <a:chOff x="4825864" y="1261074"/>
              <a:chExt cx="521457" cy="519556"/>
            </a:xfrm>
          </p:grpSpPr>
          <p:pic>
            <p:nvPicPr>
              <p:cNvPr id="60" name="Picture 59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3A95D90B-5AD0-2A50-F48D-B315AE3EF2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25864" y="1261074"/>
                <a:ext cx="519555" cy="519554"/>
              </a:xfrm>
              <a:prstGeom prst="rect">
                <a:avLst/>
              </a:prstGeom>
            </p:spPr>
          </p:pic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35C852E-8D2A-A2E4-544C-FE07720445FA}"/>
                  </a:ext>
                </a:extLst>
              </p:cNvPr>
              <p:cNvSpPr/>
              <p:nvPr/>
            </p:nvSpPr>
            <p:spPr>
              <a:xfrm>
                <a:off x="4827405" y="1261076"/>
                <a:ext cx="519916" cy="519554"/>
              </a:xfrm>
              <a:prstGeom prst="rect">
                <a:avLst/>
              </a:prstGeom>
              <a:noFill/>
              <a:ln w="38100">
                <a:solidFill>
                  <a:srgbClr val="D977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8E63DF3-0AD6-95EF-1EEB-A2542CDF234B}"/>
                </a:ext>
              </a:extLst>
            </p:cNvPr>
            <p:cNvGrpSpPr/>
            <p:nvPr/>
          </p:nvGrpSpPr>
          <p:grpSpPr>
            <a:xfrm>
              <a:off x="10572021" y="892038"/>
              <a:ext cx="613254" cy="612648"/>
              <a:chOff x="3531204" y="2542532"/>
              <a:chExt cx="519554" cy="519554"/>
            </a:xfrm>
          </p:grpSpPr>
          <p:pic>
            <p:nvPicPr>
              <p:cNvPr id="58" name="Picture 57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C31792FE-1550-5C55-CE0A-96256C099C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31204" y="2542532"/>
                <a:ext cx="519554" cy="519554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61C6E41-0DED-CA77-415F-62A4444E6B63}"/>
                  </a:ext>
                </a:extLst>
              </p:cNvPr>
              <p:cNvSpPr/>
              <p:nvPr/>
            </p:nvSpPr>
            <p:spPr>
              <a:xfrm>
                <a:off x="3531204" y="2542532"/>
                <a:ext cx="519041" cy="519554"/>
              </a:xfrm>
              <a:prstGeom prst="rect">
                <a:avLst/>
              </a:prstGeom>
              <a:noFill/>
              <a:ln w="38100">
                <a:solidFill>
                  <a:srgbClr val="05966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E39BDD0-1646-F7CE-31CD-2BD281509D53}"/>
                </a:ext>
              </a:extLst>
            </p:cNvPr>
            <p:cNvGrpSpPr/>
            <p:nvPr/>
          </p:nvGrpSpPr>
          <p:grpSpPr>
            <a:xfrm>
              <a:off x="10572626" y="208824"/>
              <a:ext cx="613256" cy="612648"/>
              <a:chOff x="4847378" y="2542532"/>
              <a:chExt cx="519555" cy="519554"/>
            </a:xfrm>
          </p:grpSpPr>
          <p:pic>
            <p:nvPicPr>
              <p:cNvPr id="56" name="Picture 55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B60016BB-9B5D-DAEB-8434-DE1A26D941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47379" y="2542532"/>
                <a:ext cx="519554" cy="519554"/>
              </a:xfrm>
              <a:prstGeom prst="rect">
                <a:avLst/>
              </a:prstGeom>
            </p:spPr>
          </p:pic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25E4015D-4E97-9E2B-4331-2A0C165EA9B0}"/>
                  </a:ext>
                </a:extLst>
              </p:cNvPr>
              <p:cNvSpPr/>
              <p:nvPr/>
            </p:nvSpPr>
            <p:spPr>
              <a:xfrm>
                <a:off x="4847378" y="2542532"/>
                <a:ext cx="519041" cy="519554"/>
              </a:xfrm>
              <a:prstGeom prst="rect">
                <a:avLst/>
              </a:prstGeom>
              <a:noFill/>
              <a:ln w="38100">
                <a:solidFill>
                  <a:srgbClr val="BE12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BDC8EF1-F6F4-69C0-B752-A17F85612113}"/>
              </a:ext>
            </a:extLst>
          </p:cNvPr>
          <p:cNvSpPr txBox="1"/>
          <p:nvPr/>
        </p:nvSpPr>
        <p:spPr>
          <a:xfrm>
            <a:off x="2384260" y="4403069"/>
            <a:ext cx="2157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 + Quality Objectives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5E85703-1808-69FD-F532-D1DFF72AD207}"/>
              </a:ext>
            </a:extLst>
          </p:cNvPr>
          <p:cNvCxnSpPr>
            <a:cxnSpLocks/>
          </p:cNvCxnSpPr>
          <p:nvPr/>
        </p:nvCxnSpPr>
        <p:spPr>
          <a:xfrm>
            <a:off x="2974042" y="2368573"/>
            <a:ext cx="61707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C094A73-F058-D560-D4B9-A81529EDFD36}"/>
              </a:ext>
            </a:extLst>
          </p:cNvPr>
          <p:cNvCxnSpPr>
            <a:cxnSpLocks/>
          </p:cNvCxnSpPr>
          <p:nvPr/>
        </p:nvCxnSpPr>
        <p:spPr>
          <a:xfrm>
            <a:off x="5910586" y="2067998"/>
            <a:ext cx="61707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E378B16-196D-9AA8-3DFA-F6DB19A4178E}"/>
              </a:ext>
            </a:extLst>
          </p:cNvPr>
          <p:cNvCxnSpPr>
            <a:cxnSpLocks/>
          </p:cNvCxnSpPr>
          <p:nvPr/>
        </p:nvCxnSpPr>
        <p:spPr>
          <a:xfrm>
            <a:off x="8124959" y="1399251"/>
            <a:ext cx="347499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5909AF5-D2A6-C5AA-6DCE-08130D1B235E}"/>
              </a:ext>
            </a:extLst>
          </p:cNvPr>
          <p:cNvCxnSpPr>
            <a:cxnSpLocks/>
          </p:cNvCxnSpPr>
          <p:nvPr/>
        </p:nvCxnSpPr>
        <p:spPr>
          <a:xfrm>
            <a:off x="8461447" y="1443341"/>
            <a:ext cx="0" cy="292808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5265C21-EA4E-6A46-6BC6-80FCC66E1740}"/>
              </a:ext>
            </a:extLst>
          </p:cNvPr>
          <p:cNvCxnSpPr>
            <a:cxnSpLocks/>
          </p:cNvCxnSpPr>
          <p:nvPr/>
        </p:nvCxnSpPr>
        <p:spPr>
          <a:xfrm flipH="1">
            <a:off x="5322627" y="4371423"/>
            <a:ext cx="3075896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FC302BB-6AB2-2BFC-6980-11D2CC03B13D}"/>
              </a:ext>
            </a:extLst>
          </p:cNvPr>
          <p:cNvGrpSpPr/>
          <p:nvPr/>
        </p:nvGrpSpPr>
        <p:grpSpPr>
          <a:xfrm>
            <a:off x="3917437" y="1793872"/>
            <a:ext cx="1753463" cy="1555755"/>
            <a:chOff x="3441962" y="1999621"/>
            <a:chExt cx="1901088" cy="1661144"/>
          </a:xfrm>
        </p:grpSpPr>
        <p:sp>
          <p:nvSpPr>
            <p:cNvPr id="10" name="Trapezoid 9">
              <a:extLst>
                <a:ext uri="{FF2B5EF4-FFF2-40B4-BE49-F238E27FC236}">
                  <a16:creationId xmlns:a16="http://schemas.microsoft.com/office/drawing/2014/main" id="{2B6A22AE-6039-DCAB-B810-FD2C86EBB3BF}"/>
                </a:ext>
              </a:extLst>
            </p:cNvPr>
            <p:cNvSpPr/>
            <p:nvPr/>
          </p:nvSpPr>
          <p:spPr>
            <a:xfrm rot="16200000">
              <a:off x="3561934" y="1879649"/>
              <a:ext cx="1661144" cy="1901088"/>
            </a:xfrm>
            <a:prstGeom prst="trapezoid">
              <a:avLst/>
            </a:prstGeom>
            <a:solidFill>
              <a:srgbClr val="D9E3EF"/>
            </a:solidFill>
            <a:ln cap="rnd">
              <a:solidFill>
                <a:srgbClr val="D9E3E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B03818-C323-723C-5FA5-9D0DC215038D}"/>
                </a:ext>
              </a:extLst>
            </p:cNvPr>
            <p:cNvSpPr txBox="1"/>
            <p:nvPr/>
          </p:nvSpPr>
          <p:spPr>
            <a:xfrm>
              <a:off x="3473081" y="2645526"/>
              <a:ext cx="1838850" cy="358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5DD3769-272E-EAB1-96DA-700E9D3FE543}"/>
              </a:ext>
            </a:extLst>
          </p:cNvPr>
          <p:cNvSpPr txBox="1"/>
          <p:nvPr/>
        </p:nvSpPr>
        <p:spPr>
          <a:xfrm>
            <a:off x="5006871" y="1716719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❄️</a:t>
            </a:r>
          </a:p>
        </p:txBody>
      </p:sp>
      <p:sp>
        <p:nvSpPr>
          <p:cNvPr id="44" name="Trapezoid 43">
            <a:extLst>
              <a:ext uri="{FF2B5EF4-FFF2-40B4-BE49-F238E27FC236}">
                <a16:creationId xmlns:a16="http://schemas.microsoft.com/office/drawing/2014/main" id="{2B8082F7-A7D8-0AA6-FD51-82DF6FD1032A}"/>
              </a:ext>
            </a:extLst>
          </p:cNvPr>
          <p:cNvSpPr/>
          <p:nvPr/>
        </p:nvSpPr>
        <p:spPr>
          <a:xfrm rot="16200000" flipH="1">
            <a:off x="4685404" y="3880856"/>
            <a:ext cx="445801" cy="510195"/>
          </a:xfrm>
          <a:prstGeom prst="trapezoid">
            <a:avLst/>
          </a:prstGeom>
          <a:solidFill>
            <a:srgbClr val="FFD656">
              <a:alpha val="86139"/>
            </a:srgbClr>
          </a:solidFill>
          <a:ln>
            <a:solidFill>
              <a:srgbClr val="FFD656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8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A33FCB27-5287-D8F4-B7D1-1F77007D2DE7}"/>
              </a:ext>
            </a:extLst>
          </p:cNvPr>
          <p:cNvSpPr/>
          <p:nvPr/>
        </p:nvSpPr>
        <p:spPr>
          <a:xfrm rot="16200000" flipH="1">
            <a:off x="4514469" y="4129707"/>
            <a:ext cx="445800" cy="510195"/>
          </a:xfrm>
          <a:prstGeom prst="trapezoid">
            <a:avLst/>
          </a:prstGeom>
          <a:solidFill>
            <a:srgbClr val="53D1B7">
              <a:alpha val="75226"/>
            </a:srgbClr>
          </a:solidFill>
          <a:ln>
            <a:solidFill>
              <a:srgbClr val="53D1B7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8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C1293B-0FC1-1925-3991-72D077238293}"/>
              </a:ext>
            </a:extLst>
          </p:cNvPr>
          <p:cNvSpPr txBox="1"/>
          <p:nvPr/>
        </p:nvSpPr>
        <p:spPr>
          <a:xfrm>
            <a:off x="4055470" y="3869683"/>
            <a:ext cx="739477" cy="4594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latin typeface="Apple Color Emoji" pitchFamily="2" charset="0"/>
                <a:ea typeface="Apple Color Emoji" pitchFamily="2" charset="0"/>
              </a:rPr>
              <a:t>❄️</a:t>
            </a:r>
          </a:p>
        </p:txBody>
      </p:sp>
    </p:spTree>
    <p:extLst>
      <p:ext uri="{BB962C8B-B14F-4D97-AF65-F5344CB8AC3E}">
        <p14:creationId xmlns:p14="http://schemas.microsoft.com/office/powerpoint/2010/main" val="4256091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F14A2-3809-5491-552E-F07CD2157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A085-5BE8-18BC-BFCC-318BCBAE1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– optimize initial noise for output diversity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D9F9E4B-80CD-9660-CB8C-76653B5B26F6}"/>
              </a:ext>
            </a:extLst>
          </p:cNvPr>
          <p:cNvSpPr/>
          <p:nvPr/>
        </p:nvSpPr>
        <p:spPr>
          <a:xfrm>
            <a:off x="649800" y="2057830"/>
            <a:ext cx="2168991" cy="1961667"/>
          </a:xfrm>
          <a:prstGeom prst="roundRect">
            <a:avLst/>
          </a:prstGeom>
          <a:solidFill>
            <a:schemeClr val="tx1">
              <a:alpha val="5000"/>
            </a:schemeClr>
          </a:solidFill>
          <a:ln>
            <a:solidFill>
              <a:srgbClr val="CBD5E1">
                <a:alpha val="1037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8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C1355B0-B6D4-601A-6342-45CC991DEC7B}"/>
              </a:ext>
            </a:extLst>
          </p:cNvPr>
          <p:cNvGrpSpPr/>
          <p:nvPr/>
        </p:nvGrpSpPr>
        <p:grpSpPr>
          <a:xfrm>
            <a:off x="649800" y="1494303"/>
            <a:ext cx="2168991" cy="525540"/>
            <a:chOff x="506866" y="1475942"/>
            <a:chExt cx="2488125" cy="52554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5B53F9FF-0EEF-4116-C6F3-473CA89406D4}"/>
                </a:ext>
              </a:extLst>
            </p:cNvPr>
            <p:cNvSpPr/>
            <p:nvPr/>
          </p:nvSpPr>
          <p:spPr>
            <a:xfrm>
              <a:off x="520421" y="1475942"/>
              <a:ext cx="2474570" cy="525540"/>
            </a:xfrm>
            <a:prstGeom prst="roundRect">
              <a:avLst/>
            </a:prstGeom>
            <a:solidFill>
              <a:srgbClr val="0001FF">
                <a:alpha val="5000"/>
              </a:srgbClr>
            </a:solidFill>
            <a:ln>
              <a:solidFill>
                <a:srgbClr val="CBD5E1">
                  <a:alpha val="1037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8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A237BE1-3E44-8751-1100-95B4A53F2F67}"/>
                </a:ext>
              </a:extLst>
            </p:cNvPr>
            <p:cNvSpPr txBox="1"/>
            <p:nvPr/>
          </p:nvSpPr>
          <p:spPr>
            <a:xfrm>
              <a:off x="506866" y="1567102"/>
              <a:ext cx="24745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01FF"/>
                  </a:solidFill>
                  <a:latin typeface="Comic Sans MS" panose="030F0902030302020204" pitchFamily="66" charset="0"/>
                </a:rPr>
                <a:t>“a photo of a cat”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E1DB3FA-7A91-5A14-5430-B412143F7C6E}"/>
              </a:ext>
            </a:extLst>
          </p:cNvPr>
          <p:cNvSpPr txBox="1"/>
          <p:nvPr/>
        </p:nvSpPr>
        <p:spPr>
          <a:xfrm>
            <a:off x="428196" y="1051540"/>
            <a:ext cx="2474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ple Color Emoji" pitchFamily="2" charset="0"/>
                <a:ea typeface="Apple Color Emoji" pitchFamily="2" charset="0"/>
              </a:rPr>
              <a:t>❄️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D6DED5B-5B1C-402E-E5D2-6EAD7565D295}"/>
              </a:ext>
            </a:extLst>
          </p:cNvPr>
          <p:cNvGrpSpPr/>
          <p:nvPr/>
        </p:nvGrpSpPr>
        <p:grpSpPr>
          <a:xfrm>
            <a:off x="311700" y="2233154"/>
            <a:ext cx="2858579" cy="1725327"/>
            <a:chOff x="496198" y="2392995"/>
            <a:chExt cx="4005650" cy="238607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D6897F8-99AC-1085-AE5A-791F7476C0DF}"/>
                </a:ext>
              </a:extLst>
            </p:cNvPr>
            <p:cNvSpPr txBox="1"/>
            <p:nvPr/>
          </p:nvSpPr>
          <p:spPr>
            <a:xfrm>
              <a:off x="496198" y="4310857"/>
              <a:ext cx="4005650" cy="46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Initialization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4AAA7F6-15B2-3E37-9876-EAA8657F0468}"/>
                </a:ext>
              </a:extLst>
            </p:cNvPr>
            <p:cNvGrpSpPr/>
            <p:nvPr/>
          </p:nvGrpSpPr>
          <p:grpSpPr>
            <a:xfrm>
              <a:off x="1595020" y="2392995"/>
              <a:ext cx="1926237" cy="1930255"/>
              <a:chOff x="1595020" y="2392995"/>
              <a:chExt cx="1926237" cy="1930255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8FDE7A7-67DF-2E53-88FD-8C695700960A}"/>
                  </a:ext>
                </a:extLst>
              </p:cNvPr>
              <p:cNvGrpSpPr/>
              <p:nvPr/>
            </p:nvGrpSpPr>
            <p:grpSpPr>
              <a:xfrm>
                <a:off x="1595020" y="2392995"/>
                <a:ext cx="1791674" cy="1791675"/>
                <a:chOff x="7302903" y="-1170929"/>
                <a:chExt cx="1457744" cy="1450351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DD142C5-5C86-C778-989D-8481ABF02365}"/>
                    </a:ext>
                  </a:extLst>
                </p:cNvPr>
                <p:cNvGrpSpPr/>
                <p:nvPr/>
              </p:nvGrpSpPr>
              <p:grpSpPr>
                <a:xfrm>
                  <a:off x="8072870" y="-406379"/>
                  <a:ext cx="687777" cy="685801"/>
                  <a:chOff x="1432674" y="2979235"/>
                  <a:chExt cx="687777" cy="685801"/>
                </a:xfrm>
              </p:grpSpPr>
              <p:pic>
                <p:nvPicPr>
                  <p:cNvPr id="28" name="Picture 27" descr="A close-up of a colorful background&#10;&#10;AI-generated content may be incorrect.">
                    <a:extLst>
                      <a:ext uri="{FF2B5EF4-FFF2-40B4-BE49-F238E27FC236}">
                        <a16:creationId xmlns:a16="http://schemas.microsoft.com/office/drawing/2014/main" id="{223FE9CD-9634-58CD-262A-5007BBF4BF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434651" y="2979235"/>
                    <a:ext cx="685800" cy="685801"/>
                  </a:xfrm>
                  <a:prstGeom prst="rect">
                    <a:avLst/>
                  </a:prstGeom>
                </p:spPr>
              </p:pic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3D61D3DF-D34B-9385-91C6-2770C9E5B8F8}"/>
                      </a:ext>
                    </a:extLst>
                  </p:cNvPr>
                  <p:cNvSpPr/>
                  <p:nvPr/>
                </p:nvSpPr>
                <p:spPr>
                  <a:xfrm>
                    <a:off x="1432674" y="2979235"/>
                    <a:ext cx="684646" cy="685800"/>
                  </a:xfrm>
                  <a:prstGeom prst="rect">
                    <a:avLst/>
                  </a:prstGeom>
                  <a:noFill/>
                  <a:ln w="38100">
                    <a:solidFill>
                      <a:srgbClr val="D977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68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73525843-61EB-C484-F10B-C283A2EF2EE1}"/>
                    </a:ext>
                  </a:extLst>
                </p:cNvPr>
                <p:cNvGrpSpPr/>
                <p:nvPr/>
              </p:nvGrpSpPr>
              <p:grpSpPr>
                <a:xfrm>
                  <a:off x="7302903" y="-406379"/>
                  <a:ext cx="692039" cy="685800"/>
                  <a:chOff x="490042" y="3297357"/>
                  <a:chExt cx="692039" cy="685800"/>
                </a:xfrm>
              </p:grpSpPr>
              <p:pic>
                <p:nvPicPr>
                  <p:cNvPr id="26" name="Picture 25" descr="A close-up of a television screen&#10;&#10;AI-generated content may be incorrect.">
                    <a:extLst>
                      <a:ext uri="{FF2B5EF4-FFF2-40B4-BE49-F238E27FC236}">
                        <a16:creationId xmlns:a16="http://schemas.microsoft.com/office/drawing/2014/main" id="{45CF1934-D258-B493-5305-27E6DC5215E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96281" y="3297357"/>
                    <a:ext cx="685800" cy="685800"/>
                  </a:xfrm>
                  <a:prstGeom prst="rect">
                    <a:avLst/>
                  </a:prstGeom>
                </p:spPr>
              </p:pic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3EAD3FCD-83F2-7AE5-D7D2-41C958606C5F}"/>
                      </a:ext>
                    </a:extLst>
                  </p:cNvPr>
                  <p:cNvSpPr/>
                  <p:nvPr/>
                </p:nvSpPr>
                <p:spPr>
                  <a:xfrm>
                    <a:off x="490042" y="3297357"/>
                    <a:ext cx="685800" cy="685800"/>
                  </a:xfrm>
                  <a:prstGeom prst="rect">
                    <a:avLst/>
                  </a:prstGeom>
                  <a:noFill/>
                  <a:ln w="38100">
                    <a:solidFill>
                      <a:srgbClr val="059669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68" dirty="0"/>
                  </a:p>
                </p:txBody>
              </p:sp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8A888183-AAEA-7E28-2A57-94C3207FA02F}"/>
                    </a:ext>
                  </a:extLst>
                </p:cNvPr>
                <p:cNvGrpSpPr/>
                <p:nvPr/>
              </p:nvGrpSpPr>
              <p:grpSpPr>
                <a:xfrm>
                  <a:off x="7302903" y="-1170929"/>
                  <a:ext cx="687994" cy="685800"/>
                  <a:chOff x="1341420" y="4320317"/>
                  <a:chExt cx="687994" cy="685800"/>
                </a:xfrm>
              </p:grpSpPr>
              <p:pic>
                <p:nvPicPr>
                  <p:cNvPr id="24" name="Picture 23" descr="A close-up of a colorful background&#10;&#10;AI-generated content may be incorrect.">
                    <a:extLst>
                      <a:ext uri="{FF2B5EF4-FFF2-40B4-BE49-F238E27FC236}">
                        <a16:creationId xmlns:a16="http://schemas.microsoft.com/office/drawing/2014/main" id="{64407C99-70DF-8AE6-3B5B-7B987A47F3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345801" y="4320317"/>
                    <a:ext cx="683613" cy="683614"/>
                  </a:xfrm>
                  <a:prstGeom prst="rect">
                    <a:avLst/>
                  </a:prstGeom>
                </p:spPr>
              </p:pic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1F610AA6-B1FD-9BC5-7248-A034199185C5}"/>
                      </a:ext>
                    </a:extLst>
                  </p:cNvPr>
                  <p:cNvSpPr/>
                  <p:nvPr/>
                </p:nvSpPr>
                <p:spPr>
                  <a:xfrm>
                    <a:off x="1341420" y="4320317"/>
                    <a:ext cx="685800" cy="685800"/>
                  </a:xfrm>
                  <a:prstGeom prst="rect">
                    <a:avLst/>
                  </a:prstGeom>
                  <a:noFill/>
                  <a:ln w="38100">
                    <a:solidFill>
                      <a:srgbClr val="BE123C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68" dirty="0"/>
                  </a:p>
                </p:txBody>
              </p: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C69EE419-35D5-D4E8-2D5A-E9494DE342B4}"/>
                    </a:ext>
                  </a:extLst>
                </p:cNvPr>
                <p:cNvGrpSpPr/>
                <p:nvPr/>
              </p:nvGrpSpPr>
              <p:grpSpPr>
                <a:xfrm>
                  <a:off x="8060392" y="-1170929"/>
                  <a:ext cx="692101" cy="685863"/>
                  <a:chOff x="2941187" y="4000909"/>
                  <a:chExt cx="692101" cy="685863"/>
                </a:xfrm>
              </p:grpSpPr>
              <p:pic>
                <p:nvPicPr>
                  <p:cNvPr id="22" name="Picture 21" descr="A close-up of a television screen&#10;&#10;AI-generated content may be incorrect.">
                    <a:extLst>
                      <a:ext uri="{FF2B5EF4-FFF2-40B4-BE49-F238E27FC236}">
                        <a16:creationId xmlns:a16="http://schemas.microsoft.com/office/drawing/2014/main" id="{64787C3C-5AEA-25EA-2D8A-03D079F1AC3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947425" y="4000909"/>
                    <a:ext cx="685863" cy="685863"/>
                  </a:xfrm>
                  <a:prstGeom prst="rect">
                    <a:avLst/>
                  </a:prstGeom>
                </p:spPr>
              </p:pic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93A321A-78AC-1506-A4B5-1E7970CB31A2}"/>
                      </a:ext>
                    </a:extLst>
                  </p:cNvPr>
                  <p:cNvSpPr/>
                  <p:nvPr/>
                </p:nvSpPr>
                <p:spPr>
                  <a:xfrm>
                    <a:off x="2941187" y="4000909"/>
                    <a:ext cx="685800" cy="685800"/>
                  </a:xfrm>
                  <a:prstGeom prst="rect">
                    <a:avLst/>
                  </a:prstGeom>
                  <a:noFill/>
                  <a:ln w="38100">
                    <a:solidFill>
                      <a:srgbClr val="7C3AED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68" dirty="0"/>
                  </a:p>
                </p:txBody>
              </p:sp>
            </p:grp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168FFB-BD2E-9497-1665-751719F71A14}"/>
                  </a:ext>
                </a:extLst>
              </p:cNvPr>
              <p:cNvSpPr txBox="1"/>
              <p:nvPr/>
            </p:nvSpPr>
            <p:spPr>
              <a:xfrm>
                <a:off x="1713613" y="3670330"/>
                <a:ext cx="841480" cy="63846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400" dirty="0">
                    <a:latin typeface="Apple Color Emoji" pitchFamily="2" charset="0"/>
                    <a:ea typeface="Apple Color Emoji" pitchFamily="2" charset="0"/>
                  </a:rPr>
                  <a:t>🔥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886C633-D6E6-ED3D-B838-72A60C9C01A8}"/>
                  </a:ext>
                </a:extLst>
              </p:cNvPr>
              <p:cNvSpPr txBox="1"/>
              <p:nvPr/>
            </p:nvSpPr>
            <p:spPr>
              <a:xfrm>
                <a:off x="2679777" y="3684782"/>
                <a:ext cx="841480" cy="63846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400" dirty="0">
                    <a:latin typeface="Apple Color Emoji" pitchFamily="2" charset="0"/>
                    <a:ea typeface="Apple Color Emoji" pitchFamily="2" charset="0"/>
                  </a:rPr>
                  <a:t>🔥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E0BD66C-5843-42D8-185A-AA6CCE586EB4}"/>
                  </a:ext>
                </a:extLst>
              </p:cNvPr>
              <p:cNvSpPr txBox="1"/>
              <p:nvPr/>
            </p:nvSpPr>
            <p:spPr>
              <a:xfrm>
                <a:off x="2635691" y="2731624"/>
                <a:ext cx="841480" cy="63846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400" dirty="0">
                    <a:latin typeface="Apple Color Emoji" pitchFamily="2" charset="0"/>
                    <a:ea typeface="Apple Color Emoji" pitchFamily="2" charset="0"/>
                  </a:rPr>
                  <a:t>🔥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FDF5455-9ED7-F55D-C8C7-77E4A0B093C5}"/>
                  </a:ext>
                </a:extLst>
              </p:cNvPr>
              <p:cNvSpPr txBox="1"/>
              <p:nvPr/>
            </p:nvSpPr>
            <p:spPr>
              <a:xfrm>
                <a:off x="1744577" y="2737241"/>
                <a:ext cx="841480" cy="63846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400" dirty="0">
                    <a:latin typeface="Apple Color Emoji" pitchFamily="2" charset="0"/>
                    <a:ea typeface="Apple Color Emoji" pitchFamily="2" charset="0"/>
                  </a:rPr>
                  <a:t>🔥</a:t>
                </a:r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96306D4-BC37-35CD-14A9-9936ED7BB69C}"/>
              </a:ext>
            </a:extLst>
          </p:cNvPr>
          <p:cNvGrpSpPr/>
          <p:nvPr/>
        </p:nvGrpSpPr>
        <p:grpSpPr>
          <a:xfrm>
            <a:off x="6716179" y="1121874"/>
            <a:ext cx="1285488" cy="1295866"/>
            <a:chOff x="10572021" y="208822"/>
            <a:chExt cx="1285488" cy="1295866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E928A0B-B1CC-E266-F2D2-D27F474A730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243045" y="208822"/>
              <a:ext cx="613254" cy="612650"/>
              <a:chOff x="3531203" y="1261075"/>
              <a:chExt cx="519554" cy="519555"/>
            </a:xfrm>
          </p:grpSpPr>
          <p:pic>
            <p:nvPicPr>
              <p:cNvPr id="62" name="Picture 61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899C653B-8365-3D45-C58D-26BE2B9CB5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31203" y="1261075"/>
                <a:ext cx="519554" cy="519554"/>
              </a:xfrm>
              <a:prstGeom prst="rect">
                <a:avLst/>
              </a:prstGeom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6BCF01E-6DEE-6137-6A00-12CBD22D4CB9}"/>
                  </a:ext>
                </a:extLst>
              </p:cNvPr>
              <p:cNvSpPr/>
              <p:nvPr/>
            </p:nvSpPr>
            <p:spPr>
              <a:xfrm>
                <a:off x="3531204" y="1261076"/>
                <a:ext cx="519041" cy="519554"/>
              </a:xfrm>
              <a:prstGeom prst="rect">
                <a:avLst/>
              </a:prstGeom>
              <a:noFill/>
              <a:ln w="38100">
                <a:solidFill>
                  <a:srgbClr val="7C3AE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0E1E03F-6A71-571C-39D7-0AE4FD3B622B}"/>
                </a:ext>
              </a:extLst>
            </p:cNvPr>
            <p:cNvGrpSpPr/>
            <p:nvPr/>
          </p:nvGrpSpPr>
          <p:grpSpPr>
            <a:xfrm>
              <a:off x="11243045" y="892038"/>
              <a:ext cx="614464" cy="612650"/>
              <a:chOff x="4825864" y="1261074"/>
              <a:chExt cx="521457" cy="519556"/>
            </a:xfrm>
          </p:grpSpPr>
          <p:pic>
            <p:nvPicPr>
              <p:cNvPr id="60" name="Picture 59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4BE1C59B-23AE-6CEB-5E66-AFF8311C24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25864" y="1261074"/>
                <a:ext cx="519555" cy="519554"/>
              </a:xfrm>
              <a:prstGeom prst="rect">
                <a:avLst/>
              </a:prstGeom>
            </p:spPr>
          </p:pic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93558A9-BD7C-DE73-27A5-FCCAABDDE1A1}"/>
                  </a:ext>
                </a:extLst>
              </p:cNvPr>
              <p:cNvSpPr/>
              <p:nvPr/>
            </p:nvSpPr>
            <p:spPr>
              <a:xfrm>
                <a:off x="4827405" y="1261076"/>
                <a:ext cx="519916" cy="519554"/>
              </a:xfrm>
              <a:prstGeom prst="rect">
                <a:avLst/>
              </a:prstGeom>
              <a:noFill/>
              <a:ln w="38100">
                <a:solidFill>
                  <a:srgbClr val="D977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7381838-6C51-3932-9372-EA00F88E02BC}"/>
                </a:ext>
              </a:extLst>
            </p:cNvPr>
            <p:cNvGrpSpPr/>
            <p:nvPr/>
          </p:nvGrpSpPr>
          <p:grpSpPr>
            <a:xfrm>
              <a:off x="10572021" y="892038"/>
              <a:ext cx="613254" cy="612648"/>
              <a:chOff x="3531204" y="2542532"/>
              <a:chExt cx="519554" cy="519554"/>
            </a:xfrm>
          </p:grpSpPr>
          <p:pic>
            <p:nvPicPr>
              <p:cNvPr id="58" name="Picture 57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D7BEF48C-81B5-8DDC-7071-DE2FF06FD1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31204" y="2542532"/>
                <a:ext cx="519554" cy="519554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D48D6E8-9918-BE5A-361D-99A2AD594C5A}"/>
                  </a:ext>
                </a:extLst>
              </p:cNvPr>
              <p:cNvSpPr/>
              <p:nvPr/>
            </p:nvSpPr>
            <p:spPr>
              <a:xfrm>
                <a:off x="3531204" y="2542532"/>
                <a:ext cx="519041" cy="519554"/>
              </a:xfrm>
              <a:prstGeom prst="rect">
                <a:avLst/>
              </a:prstGeom>
              <a:noFill/>
              <a:ln w="38100">
                <a:solidFill>
                  <a:srgbClr val="05966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C920355-E053-F6CE-3F55-0D1A4F5439CB}"/>
                </a:ext>
              </a:extLst>
            </p:cNvPr>
            <p:cNvGrpSpPr/>
            <p:nvPr/>
          </p:nvGrpSpPr>
          <p:grpSpPr>
            <a:xfrm>
              <a:off x="10572626" y="208824"/>
              <a:ext cx="613256" cy="612648"/>
              <a:chOff x="4847378" y="2542532"/>
              <a:chExt cx="519555" cy="519554"/>
            </a:xfrm>
          </p:grpSpPr>
          <p:pic>
            <p:nvPicPr>
              <p:cNvPr id="56" name="Picture 55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8CAF0911-9E21-28BF-97E0-906323DBA6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47379" y="2542532"/>
                <a:ext cx="519554" cy="519554"/>
              </a:xfrm>
              <a:prstGeom prst="rect">
                <a:avLst/>
              </a:prstGeom>
            </p:spPr>
          </p:pic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01D172D-CF54-9D85-804C-64755B7EDF27}"/>
                  </a:ext>
                </a:extLst>
              </p:cNvPr>
              <p:cNvSpPr/>
              <p:nvPr/>
            </p:nvSpPr>
            <p:spPr>
              <a:xfrm>
                <a:off x="4847378" y="2542532"/>
                <a:ext cx="519041" cy="519554"/>
              </a:xfrm>
              <a:prstGeom prst="rect">
                <a:avLst/>
              </a:prstGeom>
              <a:noFill/>
              <a:ln w="38100">
                <a:solidFill>
                  <a:srgbClr val="BE12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DB21A166-D3D9-2888-667C-092D8857B78C}"/>
              </a:ext>
            </a:extLst>
          </p:cNvPr>
          <p:cNvSpPr txBox="1"/>
          <p:nvPr/>
        </p:nvSpPr>
        <p:spPr>
          <a:xfrm>
            <a:off x="2384260" y="4403069"/>
            <a:ext cx="2157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 + Quality Objectives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D7A5887-52B1-BCCC-3F26-847102F4189F}"/>
              </a:ext>
            </a:extLst>
          </p:cNvPr>
          <p:cNvCxnSpPr>
            <a:cxnSpLocks/>
          </p:cNvCxnSpPr>
          <p:nvPr/>
        </p:nvCxnSpPr>
        <p:spPr>
          <a:xfrm>
            <a:off x="2974042" y="2368573"/>
            <a:ext cx="61707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833C948-B715-C735-2714-9A23243DCC84}"/>
              </a:ext>
            </a:extLst>
          </p:cNvPr>
          <p:cNvCxnSpPr>
            <a:cxnSpLocks/>
          </p:cNvCxnSpPr>
          <p:nvPr/>
        </p:nvCxnSpPr>
        <p:spPr>
          <a:xfrm>
            <a:off x="5910586" y="2067998"/>
            <a:ext cx="61707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09DC3C3-329A-FFC2-8C4E-B121753A7A1C}"/>
              </a:ext>
            </a:extLst>
          </p:cNvPr>
          <p:cNvCxnSpPr>
            <a:cxnSpLocks/>
          </p:cNvCxnSpPr>
          <p:nvPr/>
        </p:nvCxnSpPr>
        <p:spPr>
          <a:xfrm>
            <a:off x="8124959" y="1399251"/>
            <a:ext cx="347499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E8A21E3-5FED-8A4E-DEE8-40708CA64144}"/>
              </a:ext>
            </a:extLst>
          </p:cNvPr>
          <p:cNvCxnSpPr>
            <a:cxnSpLocks/>
          </p:cNvCxnSpPr>
          <p:nvPr/>
        </p:nvCxnSpPr>
        <p:spPr>
          <a:xfrm>
            <a:off x="8461447" y="1443341"/>
            <a:ext cx="0" cy="292808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7DE8646-97DE-F111-391D-699D6C0A5B47}"/>
              </a:ext>
            </a:extLst>
          </p:cNvPr>
          <p:cNvCxnSpPr>
            <a:cxnSpLocks/>
          </p:cNvCxnSpPr>
          <p:nvPr/>
        </p:nvCxnSpPr>
        <p:spPr>
          <a:xfrm flipH="1">
            <a:off x="5322627" y="4371423"/>
            <a:ext cx="3075896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46AAF40-B72A-13E9-4DFC-5670BB49544A}"/>
              </a:ext>
            </a:extLst>
          </p:cNvPr>
          <p:cNvGrpSpPr/>
          <p:nvPr/>
        </p:nvGrpSpPr>
        <p:grpSpPr>
          <a:xfrm>
            <a:off x="3919469" y="3869683"/>
            <a:ext cx="1243933" cy="888722"/>
            <a:chOff x="4351566" y="3799172"/>
            <a:chExt cx="1083309" cy="773965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B49EFBD-3AD4-9A7A-845B-4116DFE9F7AB}"/>
                </a:ext>
              </a:extLst>
            </p:cNvPr>
            <p:cNvGrpSpPr/>
            <p:nvPr/>
          </p:nvGrpSpPr>
          <p:grpSpPr>
            <a:xfrm rot="10800000">
              <a:off x="4351566" y="3836942"/>
              <a:ext cx="1083309" cy="736195"/>
              <a:chOff x="5707106" y="3322136"/>
              <a:chExt cx="956923" cy="650306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CB673A88-58FA-812B-F30D-D5E32C07B77F}"/>
                  </a:ext>
                </a:extLst>
              </p:cNvPr>
              <p:cNvGrpSpPr/>
              <p:nvPr/>
            </p:nvGrpSpPr>
            <p:grpSpPr>
              <a:xfrm>
                <a:off x="5707106" y="3322136"/>
                <a:ext cx="956923" cy="650306"/>
                <a:chOff x="3344152" y="2411119"/>
                <a:chExt cx="1838846" cy="1249644"/>
              </a:xfrm>
            </p:grpSpPr>
            <p:sp>
              <p:nvSpPr>
                <p:cNvPr id="71" name="Trapezoid 70">
                  <a:extLst>
                    <a:ext uri="{FF2B5EF4-FFF2-40B4-BE49-F238E27FC236}">
                      <a16:creationId xmlns:a16="http://schemas.microsoft.com/office/drawing/2014/main" id="{C34335E4-A71A-8F0F-806B-7EE05A3D6091}"/>
                    </a:ext>
                  </a:extLst>
                </p:cNvPr>
                <p:cNvSpPr/>
                <p:nvPr/>
              </p:nvSpPr>
              <p:spPr>
                <a:xfrm rot="5400000" flipH="1">
                  <a:off x="3391747" y="2954161"/>
                  <a:ext cx="659007" cy="754197"/>
                </a:xfrm>
                <a:prstGeom prst="trapezoid">
                  <a:avLst/>
                </a:prstGeom>
                <a:solidFill>
                  <a:srgbClr val="FFD656">
                    <a:alpha val="86139"/>
                  </a:srgbClr>
                </a:solidFill>
                <a:ln>
                  <a:solidFill>
                    <a:srgbClr val="FFD656">
                      <a:alpha val="3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68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endParaRP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37386A46-D15C-6076-C8CE-D5537AA4D304}"/>
                    </a:ext>
                  </a:extLst>
                </p:cNvPr>
                <p:cNvSpPr txBox="1"/>
                <p:nvPr/>
              </p:nvSpPr>
              <p:spPr>
                <a:xfrm>
                  <a:off x="3344152" y="2411119"/>
                  <a:ext cx="1838846" cy="4701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0" name="Trapezoid 69">
                <a:extLst>
                  <a:ext uri="{FF2B5EF4-FFF2-40B4-BE49-F238E27FC236}">
                    <a16:creationId xmlns:a16="http://schemas.microsoft.com/office/drawing/2014/main" id="{323DDE41-6577-7781-F304-C5B0CC03DF5B}"/>
                  </a:ext>
                </a:extLst>
              </p:cNvPr>
              <p:cNvSpPr/>
              <p:nvPr/>
            </p:nvSpPr>
            <p:spPr>
              <a:xfrm rot="5400000" flipH="1">
                <a:off x="5863370" y="3413297"/>
                <a:ext cx="342942" cy="392479"/>
              </a:xfrm>
              <a:prstGeom prst="trapezoid">
                <a:avLst/>
              </a:prstGeom>
              <a:solidFill>
                <a:srgbClr val="53D1B7">
                  <a:alpha val="75226"/>
                </a:srgbClr>
              </a:solidFill>
              <a:ln>
                <a:solidFill>
                  <a:srgbClr val="53D1B7">
                    <a:alpha val="3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>
                  <a:solidFill>
                    <a:schemeClr val="accent5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842C07D-B102-86D6-4EF0-5BAB8C3421CA}"/>
                </a:ext>
              </a:extLst>
            </p:cNvPr>
            <p:cNvSpPr txBox="1"/>
            <p:nvPr/>
          </p:nvSpPr>
          <p:spPr>
            <a:xfrm>
              <a:off x="4470006" y="3799172"/>
              <a:ext cx="643991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dirty="0">
                  <a:latin typeface="Apple Color Emoji" pitchFamily="2" charset="0"/>
                  <a:ea typeface="Apple Color Emoji" pitchFamily="2" charset="0"/>
                </a:rPr>
                <a:t>❄️</a:t>
              </a:r>
            </a:p>
          </p:txBody>
        </p:sp>
      </p:grp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EF78316-FE20-DACE-3AD5-A7CBEE720939}"/>
              </a:ext>
            </a:extLst>
          </p:cNvPr>
          <p:cNvCxnSpPr>
            <a:cxnSpLocks/>
          </p:cNvCxnSpPr>
          <p:nvPr/>
        </p:nvCxnSpPr>
        <p:spPr>
          <a:xfrm flipH="1">
            <a:off x="1665481" y="4357600"/>
            <a:ext cx="2573656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9BD8F6D-694E-5D5A-FDEB-274DD2226C54}"/>
              </a:ext>
            </a:extLst>
          </p:cNvPr>
          <p:cNvCxnSpPr>
            <a:cxnSpLocks/>
          </p:cNvCxnSpPr>
          <p:nvPr/>
        </p:nvCxnSpPr>
        <p:spPr>
          <a:xfrm flipV="1">
            <a:off x="1665481" y="4020623"/>
            <a:ext cx="0" cy="336977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0FE73FC-8782-3FB2-3A80-D9260B5D6AB6}"/>
              </a:ext>
            </a:extLst>
          </p:cNvPr>
          <p:cNvGrpSpPr/>
          <p:nvPr/>
        </p:nvGrpSpPr>
        <p:grpSpPr>
          <a:xfrm>
            <a:off x="3917437" y="1793872"/>
            <a:ext cx="1753463" cy="1555755"/>
            <a:chOff x="3441962" y="1999621"/>
            <a:chExt cx="1901088" cy="1661144"/>
          </a:xfrm>
        </p:grpSpPr>
        <p:sp>
          <p:nvSpPr>
            <p:cNvPr id="10" name="Trapezoid 9">
              <a:extLst>
                <a:ext uri="{FF2B5EF4-FFF2-40B4-BE49-F238E27FC236}">
                  <a16:creationId xmlns:a16="http://schemas.microsoft.com/office/drawing/2014/main" id="{11D8A70B-0AB3-F3F6-A5EA-B8A88FC0A19C}"/>
                </a:ext>
              </a:extLst>
            </p:cNvPr>
            <p:cNvSpPr/>
            <p:nvPr/>
          </p:nvSpPr>
          <p:spPr>
            <a:xfrm rot="16200000">
              <a:off x="3561934" y="1879649"/>
              <a:ext cx="1661144" cy="1901088"/>
            </a:xfrm>
            <a:prstGeom prst="trapezoid">
              <a:avLst/>
            </a:prstGeom>
            <a:solidFill>
              <a:srgbClr val="D9E3EF"/>
            </a:solidFill>
            <a:ln cap="rnd">
              <a:solidFill>
                <a:srgbClr val="D9E3E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42A06C0-7B3E-4921-5435-132C6CFC2815}"/>
                </a:ext>
              </a:extLst>
            </p:cNvPr>
            <p:cNvSpPr txBox="1"/>
            <p:nvPr/>
          </p:nvSpPr>
          <p:spPr>
            <a:xfrm>
              <a:off x="3473081" y="2645526"/>
              <a:ext cx="1838850" cy="358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0F56330-E5E3-1AB7-A097-C420F2063AF4}"/>
              </a:ext>
            </a:extLst>
          </p:cNvPr>
          <p:cNvSpPr txBox="1"/>
          <p:nvPr/>
        </p:nvSpPr>
        <p:spPr>
          <a:xfrm>
            <a:off x="5006871" y="1716719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❄️</a:t>
            </a:r>
          </a:p>
        </p:txBody>
      </p:sp>
    </p:spTree>
    <p:extLst>
      <p:ext uri="{BB962C8B-B14F-4D97-AF65-F5344CB8AC3E}">
        <p14:creationId xmlns:p14="http://schemas.microsoft.com/office/powerpoint/2010/main" val="2063759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EA99-847C-5A89-C1C1-1C82AFF59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E81C3-032A-A58E-E5E8-0882C965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– optimize initial noise for output diversity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ABD01B7-5DED-45C8-1B5D-74885EC2759E}"/>
              </a:ext>
            </a:extLst>
          </p:cNvPr>
          <p:cNvSpPr/>
          <p:nvPr/>
        </p:nvSpPr>
        <p:spPr>
          <a:xfrm>
            <a:off x="649800" y="2057830"/>
            <a:ext cx="2168991" cy="1961667"/>
          </a:xfrm>
          <a:prstGeom prst="roundRect">
            <a:avLst/>
          </a:prstGeom>
          <a:solidFill>
            <a:schemeClr val="tx1">
              <a:alpha val="5000"/>
            </a:schemeClr>
          </a:solidFill>
          <a:ln>
            <a:solidFill>
              <a:srgbClr val="CBD5E1">
                <a:alpha val="1037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8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8F1DF9B-1F81-2A21-E066-B418599159B5}"/>
              </a:ext>
            </a:extLst>
          </p:cNvPr>
          <p:cNvGrpSpPr/>
          <p:nvPr/>
        </p:nvGrpSpPr>
        <p:grpSpPr>
          <a:xfrm>
            <a:off x="649800" y="1494303"/>
            <a:ext cx="2168991" cy="525540"/>
            <a:chOff x="506866" y="1475942"/>
            <a:chExt cx="2488125" cy="52554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737EC43-8876-EB51-04D2-30F2A1B28AE8}"/>
                </a:ext>
              </a:extLst>
            </p:cNvPr>
            <p:cNvSpPr/>
            <p:nvPr/>
          </p:nvSpPr>
          <p:spPr>
            <a:xfrm>
              <a:off x="520421" y="1475942"/>
              <a:ext cx="2474570" cy="525540"/>
            </a:xfrm>
            <a:prstGeom prst="roundRect">
              <a:avLst/>
            </a:prstGeom>
            <a:solidFill>
              <a:srgbClr val="0001FF">
                <a:alpha val="5000"/>
              </a:srgbClr>
            </a:solidFill>
            <a:ln>
              <a:solidFill>
                <a:srgbClr val="CBD5E1">
                  <a:alpha val="1037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8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72DE348-25FC-B41D-62A0-2C9F1D1604CC}"/>
                </a:ext>
              </a:extLst>
            </p:cNvPr>
            <p:cNvSpPr txBox="1"/>
            <p:nvPr/>
          </p:nvSpPr>
          <p:spPr>
            <a:xfrm>
              <a:off x="506866" y="1567102"/>
              <a:ext cx="24745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01FF"/>
                  </a:solidFill>
                  <a:latin typeface="Comic Sans MS" panose="030F0902030302020204" pitchFamily="66" charset="0"/>
                </a:rPr>
                <a:t>“a photo of a cat”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EE50F20B-7896-E502-743D-FD69CB10E2E6}"/>
              </a:ext>
            </a:extLst>
          </p:cNvPr>
          <p:cNvSpPr txBox="1"/>
          <p:nvPr/>
        </p:nvSpPr>
        <p:spPr>
          <a:xfrm>
            <a:off x="428196" y="1051540"/>
            <a:ext cx="2474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ple Color Emoji" pitchFamily="2" charset="0"/>
                <a:ea typeface="Apple Color Emoji" pitchFamily="2" charset="0"/>
              </a:rPr>
              <a:t>❄️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24AE1CE-C5D4-B4BA-A82F-7E609F03E0E3}"/>
              </a:ext>
            </a:extLst>
          </p:cNvPr>
          <p:cNvGrpSpPr/>
          <p:nvPr/>
        </p:nvGrpSpPr>
        <p:grpSpPr>
          <a:xfrm>
            <a:off x="311700" y="2233154"/>
            <a:ext cx="2858579" cy="1725327"/>
            <a:chOff x="496198" y="2392995"/>
            <a:chExt cx="4005650" cy="238607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4D9134-CC7E-F439-FC29-C1FED11CC503}"/>
                </a:ext>
              </a:extLst>
            </p:cNvPr>
            <p:cNvSpPr txBox="1"/>
            <p:nvPr/>
          </p:nvSpPr>
          <p:spPr>
            <a:xfrm>
              <a:off x="496198" y="4310857"/>
              <a:ext cx="4005650" cy="46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Initialization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30495C8-53E9-6202-7FA5-EB010FC675D7}"/>
                </a:ext>
              </a:extLst>
            </p:cNvPr>
            <p:cNvGrpSpPr/>
            <p:nvPr/>
          </p:nvGrpSpPr>
          <p:grpSpPr>
            <a:xfrm>
              <a:off x="1595020" y="2392995"/>
              <a:ext cx="1926237" cy="1930255"/>
              <a:chOff x="1595020" y="2392995"/>
              <a:chExt cx="1926237" cy="1930255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8D00AFF-F7E1-6C8B-FEA5-C2F7ECF10B5C}"/>
                  </a:ext>
                </a:extLst>
              </p:cNvPr>
              <p:cNvGrpSpPr/>
              <p:nvPr/>
            </p:nvGrpSpPr>
            <p:grpSpPr>
              <a:xfrm>
                <a:off x="1595020" y="2392995"/>
                <a:ext cx="1791674" cy="1791675"/>
                <a:chOff x="7302903" y="-1170929"/>
                <a:chExt cx="1457744" cy="1450351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7F785648-F151-956A-9D41-66A0F3A3A04A}"/>
                    </a:ext>
                  </a:extLst>
                </p:cNvPr>
                <p:cNvGrpSpPr/>
                <p:nvPr/>
              </p:nvGrpSpPr>
              <p:grpSpPr>
                <a:xfrm>
                  <a:off x="8072870" y="-406379"/>
                  <a:ext cx="687777" cy="685801"/>
                  <a:chOff x="1432674" y="2979235"/>
                  <a:chExt cx="687777" cy="685801"/>
                </a:xfrm>
              </p:grpSpPr>
              <p:pic>
                <p:nvPicPr>
                  <p:cNvPr id="28" name="Picture 27" descr="A close-up of a colorful background&#10;&#10;AI-generated content may be incorrect.">
                    <a:extLst>
                      <a:ext uri="{FF2B5EF4-FFF2-40B4-BE49-F238E27FC236}">
                        <a16:creationId xmlns:a16="http://schemas.microsoft.com/office/drawing/2014/main" id="{ED4E23BB-E3E2-8CAE-4EF1-9832304341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434651" y="2979235"/>
                    <a:ext cx="685800" cy="685801"/>
                  </a:xfrm>
                  <a:prstGeom prst="rect">
                    <a:avLst/>
                  </a:prstGeom>
                </p:spPr>
              </p:pic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7514ED1D-FEF1-BB13-A5AD-A4B220CA9A0B}"/>
                      </a:ext>
                    </a:extLst>
                  </p:cNvPr>
                  <p:cNvSpPr/>
                  <p:nvPr/>
                </p:nvSpPr>
                <p:spPr>
                  <a:xfrm>
                    <a:off x="1432674" y="2979235"/>
                    <a:ext cx="684646" cy="685800"/>
                  </a:xfrm>
                  <a:prstGeom prst="rect">
                    <a:avLst/>
                  </a:prstGeom>
                  <a:noFill/>
                  <a:ln w="38100">
                    <a:solidFill>
                      <a:srgbClr val="D9770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68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7B715111-A10E-A4B3-C60B-327A3D7C3AF0}"/>
                    </a:ext>
                  </a:extLst>
                </p:cNvPr>
                <p:cNvGrpSpPr/>
                <p:nvPr/>
              </p:nvGrpSpPr>
              <p:grpSpPr>
                <a:xfrm>
                  <a:off x="7302903" y="-406379"/>
                  <a:ext cx="692039" cy="685800"/>
                  <a:chOff x="490042" y="3297357"/>
                  <a:chExt cx="692039" cy="685800"/>
                </a:xfrm>
              </p:grpSpPr>
              <p:pic>
                <p:nvPicPr>
                  <p:cNvPr id="26" name="Picture 25" descr="A close-up of a television screen&#10;&#10;AI-generated content may be incorrect.">
                    <a:extLst>
                      <a:ext uri="{FF2B5EF4-FFF2-40B4-BE49-F238E27FC236}">
                        <a16:creationId xmlns:a16="http://schemas.microsoft.com/office/drawing/2014/main" id="{58D10ED0-49D0-E429-3A4F-A5645424EA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96281" y="3297357"/>
                    <a:ext cx="685800" cy="685800"/>
                  </a:xfrm>
                  <a:prstGeom prst="rect">
                    <a:avLst/>
                  </a:prstGeom>
                </p:spPr>
              </p:pic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9E6E2671-7089-D932-A20D-C3B9A552DFD2}"/>
                      </a:ext>
                    </a:extLst>
                  </p:cNvPr>
                  <p:cNvSpPr/>
                  <p:nvPr/>
                </p:nvSpPr>
                <p:spPr>
                  <a:xfrm>
                    <a:off x="490042" y="3297357"/>
                    <a:ext cx="685800" cy="685800"/>
                  </a:xfrm>
                  <a:prstGeom prst="rect">
                    <a:avLst/>
                  </a:prstGeom>
                  <a:noFill/>
                  <a:ln w="38100">
                    <a:solidFill>
                      <a:srgbClr val="059669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68" dirty="0"/>
                  </a:p>
                </p:txBody>
              </p:sp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34AFB62D-F1FE-AABF-E048-95B1B71CCE3F}"/>
                    </a:ext>
                  </a:extLst>
                </p:cNvPr>
                <p:cNvGrpSpPr/>
                <p:nvPr/>
              </p:nvGrpSpPr>
              <p:grpSpPr>
                <a:xfrm>
                  <a:off x="7302903" y="-1170929"/>
                  <a:ext cx="687994" cy="685800"/>
                  <a:chOff x="1341420" y="4320317"/>
                  <a:chExt cx="687994" cy="685800"/>
                </a:xfrm>
              </p:grpSpPr>
              <p:pic>
                <p:nvPicPr>
                  <p:cNvPr id="24" name="Picture 23" descr="A close-up of a colorful background&#10;&#10;AI-generated content may be incorrect.">
                    <a:extLst>
                      <a:ext uri="{FF2B5EF4-FFF2-40B4-BE49-F238E27FC236}">
                        <a16:creationId xmlns:a16="http://schemas.microsoft.com/office/drawing/2014/main" id="{0F101912-6BCE-7C3B-1F10-D098147AB7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345801" y="4320317"/>
                    <a:ext cx="683613" cy="683614"/>
                  </a:xfrm>
                  <a:prstGeom prst="rect">
                    <a:avLst/>
                  </a:prstGeom>
                </p:spPr>
              </p:pic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51978875-2E45-2DD2-69B6-5A71CF635A2E}"/>
                      </a:ext>
                    </a:extLst>
                  </p:cNvPr>
                  <p:cNvSpPr/>
                  <p:nvPr/>
                </p:nvSpPr>
                <p:spPr>
                  <a:xfrm>
                    <a:off x="1341420" y="4320317"/>
                    <a:ext cx="685800" cy="685800"/>
                  </a:xfrm>
                  <a:prstGeom prst="rect">
                    <a:avLst/>
                  </a:prstGeom>
                  <a:noFill/>
                  <a:ln w="38100">
                    <a:solidFill>
                      <a:srgbClr val="BE123C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68" dirty="0"/>
                  </a:p>
                </p:txBody>
              </p: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39BA7A80-CB5D-8A50-7905-C8AB2B958186}"/>
                    </a:ext>
                  </a:extLst>
                </p:cNvPr>
                <p:cNvGrpSpPr/>
                <p:nvPr/>
              </p:nvGrpSpPr>
              <p:grpSpPr>
                <a:xfrm>
                  <a:off x="8060392" y="-1170929"/>
                  <a:ext cx="692101" cy="685863"/>
                  <a:chOff x="2941187" y="4000909"/>
                  <a:chExt cx="692101" cy="685863"/>
                </a:xfrm>
              </p:grpSpPr>
              <p:pic>
                <p:nvPicPr>
                  <p:cNvPr id="22" name="Picture 21" descr="A close-up of a television screen&#10;&#10;AI-generated content may be incorrect.">
                    <a:extLst>
                      <a:ext uri="{FF2B5EF4-FFF2-40B4-BE49-F238E27FC236}">
                        <a16:creationId xmlns:a16="http://schemas.microsoft.com/office/drawing/2014/main" id="{A4EFDBBA-B65D-2BA5-F100-83522032A5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947425" y="4000909"/>
                    <a:ext cx="685863" cy="685863"/>
                  </a:xfrm>
                  <a:prstGeom prst="rect">
                    <a:avLst/>
                  </a:prstGeom>
                </p:spPr>
              </p:pic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E122D439-FF32-5F8D-3E74-8013AD2E6D6E}"/>
                      </a:ext>
                    </a:extLst>
                  </p:cNvPr>
                  <p:cNvSpPr/>
                  <p:nvPr/>
                </p:nvSpPr>
                <p:spPr>
                  <a:xfrm>
                    <a:off x="2941187" y="4000909"/>
                    <a:ext cx="685800" cy="685800"/>
                  </a:xfrm>
                  <a:prstGeom prst="rect">
                    <a:avLst/>
                  </a:prstGeom>
                  <a:noFill/>
                  <a:ln w="38100">
                    <a:solidFill>
                      <a:srgbClr val="7C3AED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68" dirty="0"/>
                  </a:p>
                </p:txBody>
              </p:sp>
            </p:grp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053AE4-EE37-D1D5-C98E-FADF9FFCFADB}"/>
                  </a:ext>
                </a:extLst>
              </p:cNvPr>
              <p:cNvSpPr txBox="1"/>
              <p:nvPr/>
            </p:nvSpPr>
            <p:spPr>
              <a:xfrm>
                <a:off x="1713613" y="3670330"/>
                <a:ext cx="841480" cy="63846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400" dirty="0">
                    <a:latin typeface="Apple Color Emoji" pitchFamily="2" charset="0"/>
                    <a:ea typeface="Apple Color Emoji" pitchFamily="2" charset="0"/>
                  </a:rPr>
                  <a:t>🔥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E64F5C-9707-7913-A22E-373D1A8E3526}"/>
                  </a:ext>
                </a:extLst>
              </p:cNvPr>
              <p:cNvSpPr txBox="1"/>
              <p:nvPr/>
            </p:nvSpPr>
            <p:spPr>
              <a:xfrm>
                <a:off x="2679777" y="3684782"/>
                <a:ext cx="841480" cy="63846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400" dirty="0">
                    <a:latin typeface="Apple Color Emoji" pitchFamily="2" charset="0"/>
                    <a:ea typeface="Apple Color Emoji" pitchFamily="2" charset="0"/>
                  </a:rPr>
                  <a:t>🔥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4F2ABFC-11F3-C76E-DF98-ED92ED14FA0C}"/>
                  </a:ext>
                </a:extLst>
              </p:cNvPr>
              <p:cNvSpPr txBox="1"/>
              <p:nvPr/>
            </p:nvSpPr>
            <p:spPr>
              <a:xfrm>
                <a:off x="2635691" y="2731624"/>
                <a:ext cx="841480" cy="63846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400" dirty="0">
                    <a:latin typeface="Apple Color Emoji" pitchFamily="2" charset="0"/>
                    <a:ea typeface="Apple Color Emoji" pitchFamily="2" charset="0"/>
                  </a:rPr>
                  <a:t>🔥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2CF321B-079F-5F6D-4CD4-889791F6859F}"/>
                  </a:ext>
                </a:extLst>
              </p:cNvPr>
              <p:cNvSpPr txBox="1"/>
              <p:nvPr/>
            </p:nvSpPr>
            <p:spPr>
              <a:xfrm>
                <a:off x="1744577" y="2737241"/>
                <a:ext cx="841480" cy="63846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400" dirty="0">
                    <a:latin typeface="Apple Color Emoji" pitchFamily="2" charset="0"/>
                    <a:ea typeface="Apple Color Emoji" pitchFamily="2" charset="0"/>
                  </a:rPr>
                  <a:t>🔥</a:t>
                </a:r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088BEC1-F970-4DE4-9625-9126D67C2444}"/>
              </a:ext>
            </a:extLst>
          </p:cNvPr>
          <p:cNvGrpSpPr/>
          <p:nvPr/>
        </p:nvGrpSpPr>
        <p:grpSpPr>
          <a:xfrm>
            <a:off x="6716179" y="1121874"/>
            <a:ext cx="1285488" cy="1295866"/>
            <a:chOff x="10572021" y="208822"/>
            <a:chExt cx="1285488" cy="1295866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7F173BC9-151A-942B-6260-77B5B69DB9A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243045" y="208822"/>
              <a:ext cx="613254" cy="612650"/>
              <a:chOff x="3531203" y="1261075"/>
              <a:chExt cx="519554" cy="519555"/>
            </a:xfrm>
          </p:grpSpPr>
          <p:pic>
            <p:nvPicPr>
              <p:cNvPr id="62" name="Picture 61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D4D210B5-A75F-123F-895A-16DC732F71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31203" y="1261075"/>
                <a:ext cx="519554" cy="519554"/>
              </a:xfrm>
              <a:prstGeom prst="rect">
                <a:avLst/>
              </a:prstGeom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27A5E35-2BBA-A23F-9782-126E942759CB}"/>
                  </a:ext>
                </a:extLst>
              </p:cNvPr>
              <p:cNvSpPr/>
              <p:nvPr/>
            </p:nvSpPr>
            <p:spPr>
              <a:xfrm>
                <a:off x="3531204" y="1261076"/>
                <a:ext cx="519041" cy="519554"/>
              </a:xfrm>
              <a:prstGeom prst="rect">
                <a:avLst/>
              </a:prstGeom>
              <a:noFill/>
              <a:ln w="38100">
                <a:solidFill>
                  <a:srgbClr val="7C3AE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226F1E0-B198-A659-A05F-E3D3C74EA1F7}"/>
                </a:ext>
              </a:extLst>
            </p:cNvPr>
            <p:cNvGrpSpPr/>
            <p:nvPr/>
          </p:nvGrpSpPr>
          <p:grpSpPr>
            <a:xfrm>
              <a:off x="11243045" y="892038"/>
              <a:ext cx="614464" cy="612650"/>
              <a:chOff x="4825864" y="1261074"/>
              <a:chExt cx="521457" cy="519556"/>
            </a:xfrm>
          </p:grpSpPr>
          <p:pic>
            <p:nvPicPr>
              <p:cNvPr id="60" name="Picture 59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777E9BC4-2FA7-1F8B-17E7-83059963F5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25864" y="1261074"/>
                <a:ext cx="519555" cy="519554"/>
              </a:xfrm>
              <a:prstGeom prst="rect">
                <a:avLst/>
              </a:prstGeom>
            </p:spPr>
          </p:pic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B46258BE-3F1C-2040-38E3-77A112FED9D2}"/>
                  </a:ext>
                </a:extLst>
              </p:cNvPr>
              <p:cNvSpPr/>
              <p:nvPr/>
            </p:nvSpPr>
            <p:spPr>
              <a:xfrm>
                <a:off x="4827405" y="1261076"/>
                <a:ext cx="519916" cy="519554"/>
              </a:xfrm>
              <a:prstGeom prst="rect">
                <a:avLst/>
              </a:prstGeom>
              <a:noFill/>
              <a:ln w="38100">
                <a:solidFill>
                  <a:srgbClr val="D977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44C1B96-0E5A-45B1-11DE-8655FA0FCA74}"/>
                </a:ext>
              </a:extLst>
            </p:cNvPr>
            <p:cNvGrpSpPr/>
            <p:nvPr/>
          </p:nvGrpSpPr>
          <p:grpSpPr>
            <a:xfrm>
              <a:off x="10572021" y="892038"/>
              <a:ext cx="613254" cy="612648"/>
              <a:chOff x="3531204" y="2542532"/>
              <a:chExt cx="519554" cy="519554"/>
            </a:xfrm>
          </p:grpSpPr>
          <p:pic>
            <p:nvPicPr>
              <p:cNvPr id="58" name="Picture 57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DD2EAEE1-FC2D-B914-DCAB-5C494A6D47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31204" y="2542532"/>
                <a:ext cx="519554" cy="519554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ED95B1F-AA73-2670-B363-E1C9A2A36E2C}"/>
                  </a:ext>
                </a:extLst>
              </p:cNvPr>
              <p:cNvSpPr/>
              <p:nvPr/>
            </p:nvSpPr>
            <p:spPr>
              <a:xfrm>
                <a:off x="3531204" y="2542532"/>
                <a:ext cx="519041" cy="519554"/>
              </a:xfrm>
              <a:prstGeom prst="rect">
                <a:avLst/>
              </a:prstGeom>
              <a:noFill/>
              <a:ln w="38100">
                <a:solidFill>
                  <a:srgbClr val="05966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FFC5CF2-8BB6-60C3-E745-6751FC0DBC52}"/>
                </a:ext>
              </a:extLst>
            </p:cNvPr>
            <p:cNvGrpSpPr/>
            <p:nvPr/>
          </p:nvGrpSpPr>
          <p:grpSpPr>
            <a:xfrm>
              <a:off x="10572626" y="208824"/>
              <a:ext cx="613256" cy="612648"/>
              <a:chOff x="4847378" y="2542532"/>
              <a:chExt cx="519555" cy="519554"/>
            </a:xfrm>
          </p:grpSpPr>
          <p:pic>
            <p:nvPicPr>
              <p:cNvPr id="56" name="Picture 55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B5D13DCF-8717-710F-B426-AA29619494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47379" y="2542532"/>
                <a:ext cx="519554" cy="519554"/>
              </a:xfrm>
              <a:prstGeom prst="rect">
                <a:avLst/>
              </a:prstGeom>
            </p:spPr>
          </p:pic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CBC45CAB-2C65-49CB-06C5-7D802D963338}"/>
                  </a:ext>
                </a:extLst>
              </p:cNvPr>
              <p:cNvSpPr/>
              <p:nvPr/>
            </p:nvSpPr>
            <p:spPr>
              <a:xfrm>
                <a:off x="4847378" y="2542532"/>
                <a:ext cx="519041" cy="519554"/>
              </a:xfrm>
              <a:prstGeom prst="rect">
                <a:avLst/>
              </a:prstGeom>
              <a:noFill/>
              <a:ln w="38100">
                <a:solidFill>
                  <a:srgbClr val="BE12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4C1692F-8ED5-359A-70CE-745D3D6EC79D}"/>
              </a:ext>
            </a:extLst>
          </p:cNvPr>
          <p:cNvGrpSpPr/>
          <p:nvPr/>
        </p:nvGrpSpPr>
        <p:grpSpPr>
          <a:xfrm>
            <a:off x="6665277" y="2745333"/>
            <a:ext cx="1317913" cy="1324873"/>
            <a:chOff x="10552507" y="1630171"/>
            <a:chExt cx="1317913" cy="1324873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A9C0153-6C12-CCDA-E018-EE252DB6D81A}"/>
                </a:ext>
              </a:extLst>
            </p:cNvPr>
            <p:cNvGrpSpPr/>
            <p:nvPr/>
          </p:nvGrpSpPr>
          <p:grpSpPr>
            <a:xfrm>
              <a:off x="10552507" y="1630171"/>
              <a:ext cx="632162" cy="627479"/>
              <a:chOff x="3808244" y="786601"/>
              <a:chExt cx="402227" cy="400703"/>
            </a:xfrm>
          </p:grpSpPr>
          <p:pic>
            <p:nvPicPr>
              <p:cNvPr id="50" name="Picture 49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94B0589A-2984-7664-BA55-F728440E29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08244" y="796072"/>
                <a:ext cx="391233" cy="391232"/>
              </a:xfrm>
              <a:prstGeom prst="rect">
                <a:avLst/>
              </a:prstGeom>
            </p:spPr>
          </p:pic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EA56E98-1329-8709-BC96-232A8D6641E1}"/>
                  </a:ext>
                </a:extLst>
              </p:cNvPr>
              <p:cNvSpPr/>
              <p:nvPr/>
            </p:nvSpPr>
            <p:spPr>
              <a:xfrm>
                <a:off x="3820660" y="786601"/>
                <a:ext cx="389811" cy="391232"/>
              </a:xfrm>
              <a:prstGeom prst="rect">
                <a:avLst/>
              </a:prstGeom>
              <a:noFill/>
              <a:ln w="38100">
                <a:solidFill>
                  <a:srgbClr val="BE123C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2F29F21-396E-B266-0200-9A36C83C887A}"/>
                </a:ext>
              </a:extLst>
            </p:cNvPr>
            <p:cNvGrpSpPr/>
            <p:nvPr/>
          </p:nvGrpSpPr>
          <p:grpSpPr>
            <a:xfrm>
              <a:off x="11243045" y="1630171"/>
              <a:ext cx="622454" cy="612648"/>
              <a:chOff x="5094016" y="210891"/>
              <a:chExt cx="396050" cy="391232"/>
            </a:xfrm>
          </p:grpSpPr>
          <p:pic>
            <p:nvPicPr>
              <p:cNvPr id="48" name="Picture 47" descr="A close-up of a cat&#10;&#10;AI-generated content may be incorrect.">
                <a:extLst>
                  <a:ext uri="{FF2B5EF4-FFF2-40B4-BE49-F238E27FC236}">
                    <a16:creationId xmlns:a16="http://schemas.microsoft.com/office/drawing/2014/main" id="{5CE55F26-B3CF-784A-B70C-53C49CD86A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94016" y="210891"/>
                <a:ext cx="391232" cy="391232"/>
              </a:xfrm>
              <a:prstGeom prst="rect">
                <a:avLst/>
              </a:prstGeom>
            </p:spPr>
          </p:pic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2685AC1-3ECA-ACC9-ADA1-4BAB993D1A49}"/>
                  </a:ext>
                </a:extLst>
              </p:cNvPr>
              <p:cNvSpPr/>
              <p:nvPr/>
            </p:nvSpPr>
            <p:spPr>
              <a:xfrm>
                <a:off x="5100255" y="210891"/>
                <a:ext cx="389811" cy="391232"/>
              </a:xfrm>
              <a:prstGeom prst="rect">
                <a:avLst/>
              </a:prstGeom>
              <a:noFill/>
              <a:ln w="38100">
                <a:solidFill>
                  <a:srgbClr val="7C3AED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9F909C9-98B7-1AE7-EAED-FB65642D6E49}"/>
                </a:ext>
              </a:extLst>
            </p:cNvPr>
            <p:cNvGrpSpPr/>
            <p:nvPr/>
          </p:nvGrpSpPr>
          <p:grpSpPr>
            <a:xfrm>
              <a:off x="10572021" y="2327565"/>
              <a:ext cx="614882" cy="627479"/>
              <a:chOff x="3718354" y="-669368"/>
              <a:chExt cx="391232" cy="400703"/>
            </a:xfrm>
          </p:grpSpPr>
          <p:pic>
            <p:nvPicPr>
              <p:cNvPr id="46" name="Picture 45" descr="A close up of a cat&#10;&#10;AI-generated content may be incorrect.">
                <a:extLst>
                  <a:ext uri="{FF2B5EF4-FFF2-40B4-BE49-F238E27FC236}">
                    <a16:creationId xmlns:a16="http://schemas.microsoft.com/office/drawing/2014/main" id="{255F00A5-1B4B-47D3-E433-40FA2784AD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18354" y="-659897"/>
                <a:ext cx="391232" cy="391232"/>
              </a:xfrm>
              <a:prstGeom prst="rect">
                <a:avLst/>
              </a:prstGeom>
            </p:spPr>
          </p:pic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85633BF-7154-A3A1-45AD-C59290800752}"/>
                  </a:ext>
                </a:extLst>
              </p:cNvPr>
              <p:cNvSpPr/>
              <p:nvPr/>
            </p:nvSpPr>
            <p:spPr>
              <a:xfrm>
                <a:off x="3718354" y="-669368"/>
                <a:ext cx="389811" cy="391232"/>
              </a:xfrm>
              <a:prstGeom prst="rect">
                <a:avLst/>
              </a:prstGeom>
              <a:noFill/>
              <a:ln w="38100">
                <a:solidFill>
                  <a:srgbClr val="059669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12D7B54-801B-3C4D-84F8-219B81AFF1E8}"/>
                </a:ext>
              </a:extLst>
            </p:cNvPr>
            <p:cNvGrpSpPr/>
            <p:nvPr/>
          </p:nvGrpSpPr>
          <p:grpSpPr>
            <a:xfrm>
              <a:off x="11252851" y="2324508"/>
              <a:ext cx="617569" cy="620063"/>
              <a:chOff x="2474550" y="168125"/>
              <a:chExt cx="392942" cy="395967"/>
            </a:xfrm>
          </p:grpSpPr>
          <p:pic>
            <p:nvPicPr>
              <p:cNvPr id="44" name="Picture 43" descr="A grey cat with yellow eyes&#10;&#10;AI-generated content may be incorrect.">
                <a:extLst>
                  <a:ext uri="{FF2B5EF4-FFF2-40B4-BE49-F238E27FC236}">
                    <a16:creationId xmlns:a16="http://schemas.microsoft.com/office/drawing/2014/main" id="{9A0AD8FA-DB2D-985D-D79F-58460B5B34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74550" y="172860"/>
                <a:ext cx="391232" cy="391232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C86C668-1513-007C-09D7-1F9C72784412}"/>
                  </a:ext>
                </a:extLst>
              </p:cNvPr>
              <p:cNvSpPr/>
              <p:nvPr/>
            </p:nvSpPr>
            <p:spPr>
              <a:xfrm>
                <a:off x="2477681" y="168125"/>
                <a:ext cx="389811" cy="391232"/>
              </a:xfrm>
              <a:prstGeom prst="rect">
                <a:avLst/>
              </a:prstGeom>
              <a:noFill/>
              <a:ln w="38100">
                <a:solidFill>
                  <a:srgbClr val="D97706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68" dirty="0"/>
              </a:p>
            </p:txBody>
          </p: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371A020-32DD-DCE9-C168-31206829C0D7}"/>
              </a:ext>
            </a:extLst>
          </p:cNvPr>
          <p:cNvSpPr txBox="1"/>
          <p:nvPr/>
        </p:nvSpPr>
        <p:spPr>
          <a:xfrm>
            <a:off x="2384260" y="4403069"/>
            <a:ext cx="2157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 + Quality Objectives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80A28B4-BCE5-FD07-1862-BBA92E6CDAC9}"/>
              </a:ext>
            </a:extLst>
          </p:cNvPr>
          <p:cNvCxnSpPr>
            <a:cxnSpLocks/>
          </p:cNvCxnSpPr>
          <p:nvPr/>
        </p:nvCxnSpPr>
        <p:spPr>
          <a:xfrm>
            <a:off x="2974042" y="2368573"/>
            <a:ext cx="61707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6E38C19-703B-ED0D-9650-F1134E94CD86}"/>
              </a:ext>
            </a:extLst>
          </p:cNvPr>
          <p:cNvCxnSpPr>
            <a:cxnSpLocks/>
          </p:cNvCxnSpPr>
          <p:nvPr/>
        </p:nvCxnSpPr>
        <p:spPr>
          <a:xfrm>
            <a:off x="2974042" y="2718558"/>
            <a:ext cx="617071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DBA9A6B-171D-3834-4B14-F661E9E67665}"/>
              </a:ext>
            </a:extLst>
          </p:cNvPr>
          <p:cNvCxnSpPr>
            <a:cxnSpLocks/>
          </p:cNvCxnSpPr>
          <p:nvPr/>
        </p:nvCxnSpPr>
        <p:spPr>
          <a:xfrm>
            <a:off x="5910586" y="2067998"/>
            <a:ext cx="61707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AFCCC97-F951-1E27-2188-B8FD2FFCE00B}"/>
              </a:ext>
            </a:extLst>
          </p:cNvPr>
          <p:cNvCxnSpPr>
            <a:cxnSpLocks/>
          </p:cNvCxnSpPr>
          <p:nvPr/>
        </p:nvCxnSpPr>
        <p:spPr>
          <a:xfrm>
            <a:off x="5910586" y="3059177"/>
            <a:ext cx="617071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8B9DD3C-2BD7-467E-5EE9-76AFF2E47083}"/>
              </a:ext>
            </a:extLst>
          </p:cNvPr>
          <p:cNvCxnSpPr>
            <a:cxnSpLocks/>
          </p:cNvCxnSpPr>
          <p:nvPr/>
        </p:nvCxnSpPr>
        <p:spPr>
          <a:xfrm>
            <a:off x="8124959" y="1399251"/>
            <a:ext cx="347499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338951B-A619-0D8F-BB6D-261C9323C40A}"/>
              </a:ext>
            </a:extLst>
          </p:cNvPr>
          <p:cNvCxnSpPr>
            <a:cxnSpLocks/>
          </p:cNvCxnSpPr>
          <p:nvPr/>
        </p:nvCxnSpPr>
        <p:spPr>
          <a:xfrm>
            <a:off x="8461447" y="1443341"/>
            <a:ext cx="0" cy="292808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1EFD743-3855-C939-37B3-89A481F1C6EA}"/>
              </a:ext>
            </a:extLst>
          </p:cNvPr>
          <p:cNvCxnSpPr>
            <a:cxnSpLocks/>
          </p:cNvCxnSpPr>
          <p:nvPr/>
        </p:nvCxnSpPr>
        <p:spPr>
          <a:xfrm flipH="1">
            <a:off x="5322627" y="4371423"/>
            <a:ext cx="3075896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6B60FAE-475D-B41E-2ED9-9A1C1B936763}"/>
              </a:ext>
            </a:extLst>
          </p:cNvPr>
          <p:cNvCxnSpPr>
            <a:cxnSpLocks/>
          </p:cNvCxnSpPr>
          <p:nvPr/>
        </p:nvCxnSpPr>
        <p:spPr>
          <a:xfrm flipH="1">
            <a:off x="1665481" y="4357600"/>
            <a:ext cx="2573656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9815CBE1-0939-C899-CACC-CD363F90AE06}"/>
              </a:ext>
            </a:extLst>
          </p:cNvPr>
          <p:cNvCxnSpPr>
            <a:cxnSpLocks/>
          </p:cNvCxnSpPr>
          <p:nvPr/>
        </p:nvCxnSpPr>
        <p:spPr>
          <a:xfrm flipV="1">
            <a:off x="1665481" y="4020623"/>
            <a:ext cx="0" cy="336977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1061315-431D-B6D5-88B0-B005FCE7DD20}"/>
              </a:ext>
            </a:extLst>
          </p:cNvPr>
          <p:cNvGrpSpPr/>
          <p:nvPr/>
        </p:nvGrpSpPr>
        <p:grpSpPr>
          <a:xfrm>
            <a:off x="3917437" y="1793872"/>
            <a:ext cx="1753463" cy="1555755"/>
            <a:chOff x="3441962" y="1999621"/>
            <a:chExt cx="1901088" cy="1661144"/>
          </a:xfrm>
        </p:grpSpPr>
        <p:sp>
          <p:nvSpPr>
            <p:cNvPr id="34" name="Trapezoid 33">
              <a:extLst>
                <a:ext uri="{FF2B5EF4-FFF2-40B4-BE49-F238E27FC236}">
                  <a16:creationId xmlns:a16="http://schemas.microsoft.com/office/drawing/2014/main" id="{89B638A9-6CE0-9926-A631-190030A2C2B5}"/>
                </a:ext>
              </a:extLst>
            </p:cNvPr>
            <p:cNvSpPr/>
            <p:nvPr/>
          </p:nvSpPr>
          <p:spPr>
            <a:xfrm rot="16200000">
              <a:off x="3561934" y="1879649"/>
              <a:ext cx="1661144" cy="1901088"/>
            </a:xfrm>
            <a:prstGeom prst="trapezoid">
              <a:avLst/>
            </a:prstGeom>
            <a:solidFill>
              <a:srgbClr val="D9E3EF"/>
            </a:solidFill>
            <a:ln cap="rnd">
              <a:solidFill>
                <a:srgbClr val="D9E3E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ADE0E92-1201-503C-9498-D50335F16613}"/>
                </a:ext>
              </a:extLst>
            </p:cNvPr>
            <p:cNvSpPr txBox="1"/>
            <p:nvPr/>
          </p:nvSpPr>
          <p:spPr>
            <a:xfrm>
              <a:off x="3473081" y="2645526"/>
              <a:ext cx="1838850" cy="358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4D12AA36-E4C9-637B-9AF3-3933C2E96C74}"/>
              </a:ext>
            </a:extLst>
          </p:cNvPr>
          <p:cNvSpPr txBox="1"/>
          <p:nvPr/>
        </p:nvSpPr>
        <p:spPr>
          <a:xfrm>
            <a:off x="5006871" y="1716719"/>
            <a:ext cx="66402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/>
              <a:t>❄️</a:t>
            </a:r>
          </a:p>
        </p:txBody>
      </p:sp>
      <p:sp>
        <p:nvSpPr>
          <p:cNvPr id="74" name="Trapezoid 73">
            <a:extLst>
              <a:ext uri="{FF2B5EF4-FFF2-40B4-BE49-F238E27FC236}">
                <a16:creationId xmlns:a16="http://schemas.microsoft.com/office/drawing/2014/main" id="{683C1DC2-6CAB-4997-ACA3-6966289EEACB}"/>
              </a:ext>
            </a:extLst>
          </p:cNvPr>
          <p:cNvSpPr/>
          <p:nvPr/>
        </p:nvSpPr>
        <p:spPr>
          <a:xfrm rot="16200000" flipH="1">
            <a:off x="4685404" y="3880856"/>
            <a:ext cx="445801" cy="510195"/>
          </a:xfrm>
          <a:prstGeom prst="trapezoid">
            <a:avLst/>
          </a:prstGeom>
          <a:solidFill>
            <a:srgbClr val="FFD656">
              <a:alpha val="86139"/>
            </a:srgbClr>
          </a:solidFill>
          <a:ln>
            <a:solidFill>
              <a:srgbClr val="FFD656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8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7" name="Trapezoid 76">
            <a:extLst>
              <a:ext uri="{FF2B5EF4-FFF2-40B4-BE49-F238E27FC236}">
                <a16:creationId xmlns:a16="http://schemas.microsoft.com/office/drawing/2014/main" id="{9CCFF639-63B9-A32A-2328-F1933668A94D}"/>
              </a:ext>
            </a:extLst>
          </p:cNvPr>
          <p:cNvSpPr/>
          <p:nvPr/>
        </p:nvSpPr>
        <p:spPr>
          <a:xfrm rot="16200000" flipH="1">
            <a:off x="4514469" y="4129707"/>
            <a:ext cx="445800" cy="510195"/>
          </a:xfrm>
          <a:prstGeom prst="trapezoid">
            <a:avLst/>
          </a:prstGeom>
          <a:solidFill>
            <a:srgbClr val="53D1B7">
              <a:alpha val="75226"/>
            </a:srgbClr>
          </a:solidFill>
          <a:ln>
            <a:solidFill>
              <a:srgbClr val="53D1B7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8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C9255F-B178-A4E9-F552-B37062A51F49}"/>
              </a:ext>
            </a:extLst>
          </p:cNvPr>
          <p:cNvSpPr txBox="1"/>
          <p:nvPr/>
        </p:nvSpPr>
        <p:spPr>
          <a:xfrm>
            <a:off x="4055470" y="3869683"/>
            <a:ext cx="739477" cy="4594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latin typeface="Apple Color Emoji" pitchFamily="2" charset="0"/>
                <a:ea typeface="Apple Color Emoji" pitchFamily="2" charset="0"/>
              </a:rPr>
              <a:t>❄️</a:t>
            </a:r>
          </a:p>
        </p:txBody>
      </p:sp>
    </p:spTree>
    <p:extLst>
      <p:ext uri="{BB962C8B-B14F-4D97-AF65-F5344CB8AC3E}">
        <p14:creationId xmlns:p14="http://schemas.microsoft.com/office/powerpoint/2010/main" val="3464046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90A58-2610-F5DA-476D-8F5562BC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 improves diversity in color, orientation, and style across models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BC354A-8106-658C-09E1-B4DB724BF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44" y="1111993"/>
            <a:ext cx="7178511" cy="386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21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6FD50-E637-081B-3FB4-0F4431739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achieve superior diversity scores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GenEval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maintaining quality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3979D1-87F7-5C73-AD4D-83CE2C14D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58" y="1870532"/>
            <a:ext cx="7772400" cy="193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63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8D423-E311-158C-2292-0F0B29636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achieve superior diversity scores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GenEval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maintaining quality</a:t>
            </a: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FDBBE4-B348-B280-EA6E-E4E7BE559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11" y="1017725"/>
            <a:ext cx="7261578" cy="408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22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8CC6A-4B34-2080-8CFD-329367DF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872B-5163-0049-CA43-3A16AB1D1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achieve superior diversity scores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GenEval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maintaining quality</a:t>
            </a: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9139498-C120-3DE1-1731-9321B09B6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11" y="1017725"/>
            <a:ext cx="7261578" cy="4084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F3B236-0113-5AD7-E0EB-517E53A20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11" y="1017725"/>
            <a:ext cx="7261578" cy="408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742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8A45D-BADD-DEBF-B5C0-93704521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252CA-93E7-B2D5-92C6-C7403967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achieve superior diversity scores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GenEval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maintaining quality</a:t>
            </a: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51F686-618E-AFA9-85BB-1974213B5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11" y="1017725"/>
            <a:ext cx="7261578" cy="4084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411F75-EDA4-A728-2040-60700A473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11" y="1017725"/>
            <a:ext cx="7261578" cy="40841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C01708-83AD-1FF2-745B-45F985C63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211" y="1017725"/>
            <a:ext cx="7261578" cy="408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31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51797-2E77-2989-EC12-C64FBE8A0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 scales to large, diverse image sets via sequential generation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530ECF-E68F-C204-DBD6-5A30910DC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942" y="1213701"/>
            <a:ext cx="3614516" cy="36145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294369-5688-8990-EF00-BAC689971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63" y="1213701"/>
            <a:ext cx="3614516" cy="36145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513FAC-E676-4DA7-223A-F8E915476025}"/>
              </a:ext>
            </a:extLst>
          </p:cNvPr>
          <p:cNvSpPr txBox="1"/>
          <p:nvPr/>
        </p:nvSpPr>
        <p:spPr>
          <a:xfrm>
            <a:off x="777563" y="4828217"/>
            <a:ext cx="3614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i.i.d.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CABC18-E8ED-59A9-C283-0E0AC872F115}"/>
              </a:ext>
            </a:extLst>
          </p:cNvPr>
          <p:cNvSpPr txBox="1"/>
          <p:nvPr/>
        </p:nvSpPr>
        <p:spPr>
          <a:xfrm>
            <a:off x="4857942" y="4828216"/>
            <a:ext cx="3614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268B89-C5DF-D70F-9CB1-8DFD090C9079}"/>
              </a:ext>
            </a:extLst>
          </p:cNvPr>
          <p:cNvSpPr txBox="1"/>
          <p:nvPr/>
        </p:nvSpPr>
        <p:spPr>
          <a:xfrm>
            <a:off x="777563" y="863836"/>
            <a:ext cx="7694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1FF"/>
                </a:solidFill>
                <a:latin typeface="Comic Sans MS" panose="030F0902030302020204" pitchFamily="66" charset="0"/>
                <a:cs typeface="Times New Roman" panose="02020603050405020304" pitchFamily="18" charset="0"/>
              </a:rPr>
              <a:t>“A photo of a dog”</a:t>
            </a:r>
          </a:p>
        </p:txBody>
      </p:sp>
    </p:spTree>
    <p:extLst>
      <p:ext uri="{BB962C8B-B14F-4D97-AF65-F5344CB8AC3E}">
        <p14:creationId xmlns:p14="http://schemas.microsoft.com/office/powerpoint/2010/main" val="1174687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31D58-6D68-A84C-786F-AAF7BFA4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777B-AE5A-D6A0-69A6-26229C736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increase diversity even on highly specified prompts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DA6AF-C8DC-6FE7-800D-2A25B900BE72}"/>
              </a:ext>
            </a:extLst>
          </p:cNvPr>
          <p:cNvSpPr txBox="1"/>
          <p:nvPr/>
        </p:nvSpPr>
        <p:spPr>
          <a:xfrm>
            <a:off x="311700" y="1512490"/>
            <a:ext cx="24220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0001FF"/>
                </a:solidFill>
                <a:latin typeface="Comic Sans MS" panose="030F0902030302020204" pitchFamily="66" charset="0"/>
              </a:rPr>
              <a:t>A picturesque autumn scene where a quaint cottage with a thatched roof sits beside a tranquil lake, surrounded by trees with leaves in vibrant shades of orange, red, and yellow. The cottage's wooden exterior is complemented by white-framed windows, and a stone chimney rises above the roofline. The lake reflects the warm fall colors, creating a mirror image of the foliage and the small structure on its calm surface.</a:t>
            </a:r>
          </a:p>
        </p:txBody>
      </p:sp>
    </p:spTree>
    <p:extLst>
      <p:ext uri="{BB962C8B-B14F-4D97-AF65-F5344CB8AC3E}">
        <p14:creationId xmlns:p14="http://schemas.microsoft.com/office/powerpoint/2010/main" val="3691661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2C2DB-5E0B-0AE3-C2B9-E482827F2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C2F19-456F-F2C2-196B-B886E1ACF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increase diversity even on highly specified prompts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49E493-B000-40D7-8A4B-D88372231A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260"/>
          <a:stretch>
            <a:fillRect/>
          </a:stretch>
        </p:blipFill>
        <p:spPr>
          <a:xfrm>
            <a:off x="3466406" y="1512491"/>
            <a:ext cx="5474178" cy="13548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8EF27F-5D42-60C9-A8F5-10E3A5C0DB06}"/>
              </a:ext>
            </a:extLst>
          </p:cNvPr>
          <p:cNvSpPr txBox="1"/>
          <p:nvPr/>
        </p:nvSpPr>
        <p:spPr>
          <a:xfrm>
            <a:off x="311700" y="1512490"/>
            <a:ext cx="24220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0001FF"/>
                </a:solidFill>
                <a:latin typeface="Comic Sans MS" panose="030F0902030302020204" pitchFamily="66" charset="0"/>
              </a:rPr>
              <a:t>A picturesque autumn scene where a quaint cottage with a thatched roof sits beside a tranquil lake, surrounded by trees with leaves in vibrant shades of orange, red, and yellow. The cottage's wooden exterior is complemented by white-framed windows, and a stone chimney rises above the roofline. The lake reflects the warm fall colors, creating a mirror image of the foliage and the small structure on its calm surface.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22ACB-8C1F-7ECA-3DB1-B3FEEE45D900}"/>
              </a:ext>
            </a:extLst>
          </p:cNvPr>
          <p:cNvSpPr txBox="1"/>
          <p:nvPr/>
        </p:nvSpPr>
        <p:spPr>
          <a:xfrm>
            <a:off x="2650019" y="2109081"/>
            <a:ext cx="666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i.i.d.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3302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911A8-102D-085D-DC0A-0823739B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6B3EB-E6F6-9F40-ECD3-F16E28E7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increase diversity even on highly specified prompts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74E317-228A-29D4-DDB5-33DFBCA1D68B}"/>
              </a:ext>
            </a:extLst>
          </p:cNvPr>
          <p:cNvSpPr txBox="1"/>
          <p:nvPr/>
        </p:nvSpPr>
        <p:spPr>
          <a:xfrm>
            <a:off x="311700" y="1512490"/>
            <a:ext cx="24220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0001FF"/>
                </a:solidFill>
                <a:latin typeface="Comic Sans MS" panose="030F0902030302020204" pitchFamily="66" charset="0"/>
              </a:rPr>
              <a:t>A picturesque autumn scene where a quaint cottage with a thatched roof sits beside a tranquil lake, surrounded by trees with leaves in vibrant shades of orange, red, and yellow. The cottage's wooden exterior is complemented by white-framed windows, and a stone chimney rises above the roofline. The lake reflects the warm fall colors, creating a mirror image of the foliage and the small structure on its calm surface.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08950-17FD-EB6D-228F-1362C1377D36}"/>
              </a:ext>
            </a:extLst>
          </p:cNvPr>
          <p:cNvSpPr txBox="1"/>
          <p:nvPr/>
        </p:nvSpPr>
        <p:spPr>
          <a:xfrm>
            <a:off x="2650019" y="2109081"/>
            <a:ext cx="666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i.i.d.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5B44D2-2FF5-3B47-4D23-B0455402E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406" y="1512490"/>
            <a:ext cx="5474178" cy="27239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6D42A9-BB9F-FCEF-B572-679762720331}"/>
              </a:ext>
            </a:extLst>
          </p:cNvPr>
          <p:cNvSpPr txBox="1"/>
          <p:nvPr/>
        </p:nvSpPr>
        <p:spPr>
          <a:xfrm>
            <a:off x="2691896" y="3493174"/>
            <a:ext cx="666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Ours</a:t>
            </a:r>
          </a:p>
        </p:txBody>
      </p:sp>
    </p:spTree>
    <p:extLst>
      <p:ext uri="{BB962C8B-B14F-4D97-AF65-F5344CB8AC3E}">
        <p14:creationId xmlns:p14="http://schemas.microsoft.com/office/powerpoint/2010/main" val="4150537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AC28B-A0FF-F7A4-9F83-C3B7F3C91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 is metric dependent, set level objectives preferred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583596-9B60-8476-BF5F-C73DB2895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64" y="1017725"/>
            <a:ext cx="3474621" cy="39557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C09E8B-1E77-4B84-2076-565FEBF9B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264" y="1705759"/>
            <a:ext cx="3759991" cy="290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666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F33E50-C097-B62A-1A2A-6179FD66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to the noise?</a:t>
            </a:r>
          </a:p>
        </p:txBody>
      </p:sp>
    </p:spTree>
    <p:extLst>
      <p:ext uri="{BB962C8B-B14F-4D97-AF65-F5344CB8AC3E}">
        <p14:creationId xmlns:p14="http://schemas.microsoft.com/office/powerpoint/2010/main" val="27354801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1606D-2AEB-3FA3-4046-3D32314F7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changes low frequency information the most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ECB7A-B469-967B-DF8C-7B6C40727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55" y="2061131"/>
            <a:ext cx="3098800" cy="2311400"/>
          </a:xfrm>
          <a:prstGeom prst="rect">
            <a:avLst/>
          </a:prstGeom>
        </p:spPr>
      </p:pic>
      <p:pic>
        <p:nvPicPr>
          <p:cNvPr id="8" name="noise_evolution_00009">
            <a:hlinkClick r:id="" action="ppaction://media"/>
            <a:extLst>
              <a:ext uri="{FF2B5EF4-FFF2-40B4-BE49-F238E27FC236}">
                <a16:creationId xmlns:a16="http://schemas.microsoft.com/office/drawing/2014/main" id="{43EA17B7-7219-5CFD-B44D-40754FCA635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t="5232"/>
          <a:stretch>
            <a:fillRect/>
          </a:stretch>
        </p:blipFill>
        <p:spPr>
          <a:xfrm>
            <a:off x="4572001" y="1083211"/>
            <a:ext cx="3900458" cy="377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00C79-BD03-B3AA-E512-3B3682295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5F76-5E13-7111-A53F-3AA18994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can be initialized with different frequency profiles</a:t>
            </a:r>
          </a:p>
        </p:txBody>
      </p:sp>
      <p:pic>
        <p:nvPicPr>
          <p:cNvPr id="5" name="Picture 4" descr="A blurry image of a colorful cloud&#10;&#10;AI-generated content may be incorrect.">
            <a:extLst>
              <a:ext uri="{FF2B5EF4-FFF2-40B4-BE49-F238E27FC236}">
                <a16:creationId xmlns:a16="http://schemas.microsoft.com/office/drawing/2014/main" id="{00CCD0B1-1A24-7B09-164C-9B77610E0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965" y="1859708"/>
            <a:ext cx="1828800" cy="1828800"/>
          </a:xfrm>
          <a:prstGeom prst="rect">
            <a:avLst/>
          </a:prstGeom>
        </p:spPr>
      </p:pic>
      <p:pic>
        <p:nvPicPr>
          <p:cNvPr id="7" name="Picture 6" descr="A grey and purple background&#10;&#10;AI-generated content may be incorrect.">
            <a:extLst>
              <a:ext uri="{FF2B5EF4-FFF2-40B4-BE49-F238E27FC236}">
                <a16:creationId xmlns:a16="http://schemas.microsoft.com/office/drawing/2014/main" id="{906B4579-6043-DA83-073E-FF345BCD4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435" y="1859708"/>
            <a:ext cx="1828800" cy="1828800"/>
          </a:xfrm>
          <a:prstGeom prst="rect">
            <a:avLst/>
          </a:prstGeom>
        </p:spPr>
      </p:pic>
      <p:pic>
        <p:nvPicPr>
          <p:cNvPr id="9" name="Picture 8" descr="A grey surface with small dots&#10;&#10;AI-generated content may be incorrect.">
            <a:extLst>
              <a:ext uri="{FF2B5EF4-FFF2-40B4-BE49-F238E27FC236}">
                <a16:creationId xmlns:a16="http://schemas.microsoft.com/office/drawing/2014/main" id="{983FB2D7-7F94-217C-B012-B7108E9BA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495" y="1859708"/>
            <a:ext cx="1828800" cy="182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81;p16">
                <a:extLst>
                  <a:ext uri="{FF2B5EF4-FFF2-40B4-BE49-F238E27FC236}">
                    <a16:creationId xmlns:a16="http://schemas.microsoft.com/office/drawing/2014/main" id="{90EB6FFC-90D3-A688-016D-4B18E1F9C00D}"/>
                  </a:ext>
                </a:extLst>
              </p:cNvPr>
              <p:cNvSpPr txBox="1"/>
              <p:nvPr/>
            </p:nvSpPr>
            <p:spPr>
              <a:xfrm>
                <a:off x="3970642" y="3945881"/>
                <a:ext cx="1807446" cy="3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type m:val="skw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p/>
                          </m:sSup>
                        </m:den>
                      </m:f>
                    </m:oMath>
                  </m:oMathPara>
                </a14:m>
                <a:endParaRPr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Google Shape;81;p16">
                <a:extLst>
                  <a:ext uri="{FF2B5EF4-FFF2-40B4-BE49-F238E27FC236}">
                    <a16:creationId xmlns:a16="http://schemas.microsoft.com/office/drawing/2014/main" id="{90EB6FFC-90D3-A688-016D-4B18E1F9C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642" y="3945881"/>
                <a:ext cx="1807446" cy="393600"/>
              </a:xfrm>
              <a:prstGeom prst="rect">
                <a:avLst/>
              </a:prstGeom>
              <a:blipFill>
                <a:blip r:embed="rId6"/>
                <a:stretch>
                  <a:fillRect t="-84375" b="-168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81;p16">
                <a:extLst>
                  <a:ext uri="{FF2B5EF4-FFF2-40B4-BE49-F238E27FC236}">
                    <a16:creationId xmlns:a16="http://schemas.microsoft.com/office/drawing/2014/main" id="{47640C4C-6EDC-FA78-D2AE-E6FB9B57DD69}"/>
                  </a:ext>
                </a:extLst>
              </p:cNvPr>
              <p:cNvSpPr txBox="1"/>
              <p:nvPr/>
            </p:nvSpPr>
            <p:spPr>
              <a:xfrm>
                <a:off x="5836495" y="3945881"/>
                <a:ext cx="1807446" cy="3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/>
                      </m:sSup>
                    </m:oMath>
                  </m:oMathPara>
                </a14:m>
                <a:endParaRPr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Google Shape;81;p16">
                <a:extLst>
                  <a:ext uri="{FF2B5EF4-FFF2-40B4-BE49-F238E27FC236}">
                    <a16:creationId xmlns:a16="http://schemas.microsoft.com/office/drawing/2014/main" id="{47640C4C-6EDC-FA78-D2AE-E6FB9B57D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495" y="3945881"/>
                <a:ext cx="1807446" cy="393600"/>
              </a:xfrm>
              <a:prstGeom prst="rect">
                <a:avLst/>
              </a:prstGeom>
              <a:blipFill>
                <a:blip r:embed="rId7"/>
                <a:stretch>
                  <a:fillRect b="-3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81;p16">
                <a:extLst>
                  <a:ext uri="{FF2B5EF4-FFF2-40B4-BE49-F238E27FC236}">
                    <a16:creationId xmlns:a16="http://schemas.microsoft.com/office/drawing/2014/main" id="{0313B510-ECFD-7FE8-19E3-37165D877B54}"/>
                  </a:ext>
                </a:extLst>
              </p:cNvPr>
              <p:cNvSpPr txBox="1"/>
              <p:nvPr/>
            </p:nvSpPr>
            <p:spPr>
              <a:xfrm>
                <a:off x="2104789" y="3945881"/>
                <a:ext cx="1807446" cy="3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𝒄𝒐𝒏𝒔𝒕𝒂𝒏𝒕</m:t>
                      </m:r>
                    </m:oMath>
                  </m:oMathPara>
                </a14:m>
                <a:endParaRPr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Google Shape;81;p16">
                <a:extLst>
                  <a:ext uri="{FF2B5EF4-FFF2-40B4-BE49-F238E27FC236}">
                    <a16:creationId xmlns:a16="http://schemas.microsoft.com/office/drawing/2014/main" id="{0313B510-ECFD-7FE8-19E3-37165D877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789" y="3945881"/>
                <a:ext cx="1807446" cy="393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81;p16">
            <a:extLst>
              <a:ext uri="{FF2B5EF4-FFF2-40B4-BE49-F238E27FC236}">
                <a16:creationId xmlns:a16="http://schemas.microsoft.com/office/drawing/2014/main" id="{D7A41156-D716-DE8C-6279-4B9C86736721}"/>
              </a:ext>
            </a:extLst>
          </p:cNvPr>
          <p:cNvSpPr txBox="1"/>
          <p:nvPr/>
        </p:nvSpPr>
        <p:spPr>
          <a:xfrm>
            <a:off x="0" y="3948663"/>
            <a:ext cx="215251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Spectral Density:</a:t>
            </a:r>
            <a:endParaRPr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81;p16">
            <a:extLst>
              <a:ext uri="{FF2B5EF4-FFF2-40B4-BE49-F238E27FC236}">
                <a16:creationId xmlns:a16="http://schemas.microsoft.com/office/drawing/2014/main" id="{653B932C-D9CD-0A03-7B2B-3B9DB95411C4}"/>
              </a:ext>
            </a:extLst>
          </p:cNvPr>
          <p:cNvSpPr txBox="1"/>
          <p:nvPr/>
        </p:nvSpPr>
        <p:spPr>
          <a:xfrm>
            <a:off x="2152519" y="1337422"/>
            <a:ext cx="1807446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White</a:t>
            </a:r>
            <a:endParaRPr sz="16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oogle Shape;81;p16">
            <a:extLst>
              <a:ext uri="{FF2B5EF4-FFF2-40B4-BE49-F238E27FC236}">
                <a16:creationId xmlns:a16="http://schemas.microsoft.com/office/drawing/2014/main" id="{C905084F-41CD-59FC-52E4-46BC6A50898B}"/>
              </a:ext>
            </a:extLst>
          </p:cNvPr>
          <p:cNvSpPr txBox="1"/>
          <p:nvPr/>
        </p:nvSpPr>
        <p:spPr>
          <a:xfrm>
            <a:off x="3919349" y="1337422"/>
            <a:ext cx="1807446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4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Pink</a:t>
            </a:r>
            <a:endParaRPr sz="1600" b="1" dirty="0">
              <a:solidFill>
                <a:srgbClr val="FF4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81;p16">
            <a:extLst>
              <a:ext uri="{FF2B5EF4-FFF2-40B4-BE49-F238E27FC236}">
                <a16:creationId xmlns:a16="http://schemas.microsoft.com/office/drawing/2014/main" id="{78375535-9B60-289C-660A-50B7B481A26F}"/>
              </a:ext>
            </a:extLst>
          </p:cNvPr>
          <p:cNvSpPr txBox="1"/>
          <p:nvPr/>
        </p:nvSpPr>
        <p:spPr>
          <a:xfrm>
            <a:off x="5836495" y="1340432"/>
            <a:ext cx="1807446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0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endParaRPr sz="1600" b="1" dirty="0">
              <a:solidFill>
                <a:srgbClr val="0001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C57F8-E95A-F700-A823-382C9C062069}"/>
              </a:ext>
            </a:extLst>
          </p:cNvPr>
          <p:cNvSpPr txBox="1"/>
          <p:nvPr/>
        </p:nvSpPr>
        <p:spPr>
          <a:xfrm>
            <a:off x="4070294" y="4596854"/>
            <a:ext cx="1707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frequencies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7E7C51-8C45-B83A-5301-C8C81ED5ADC0}"/>
              </a:ext>
            </a:extLst>
          </p:cNvPr>
          <p:cNvSpPr txBox="1"/>
          <p:nvPr/>
        </p:nvSpPr>
        <p:spPr>
          <a:xfrm>
            <a:off x="5957501" y="4596854"/>
            <a:ext cx="1707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frequencies</a:t>
            </a:r>
          </a:p>
        </p:txBody>
      </p:sp>
    </p:spTree>
    <p:extLst>
      <p:ext uri="{BB962C8B-B14F-4D97-AF65-F5344CB8AC3E}">
        <p14:creationId xmlns:p14="http://schemas.microsoft.com/office/powerpoint/2010/main" val="20016029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431BC-E148-DB12-5BA3-F01D5F6C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 low frequencies via </a:t>
            </a:r>
            <a:r>
              <a:rPr lang="en-US" sz="2000" dirty="0">
                <a:solidFill>
                  <a:srgbClr val="FF4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noise initialization improves diversity at inference and during optimization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4231C-6668-861A-FA50-EDEA7C136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55" y="1282222"/>
            <a:ext cx="8583245" cy="338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4058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2F86-B3A3-5044-2406-047A3E03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AE73-4560-66AA-8142-364F16E95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3" name="Google Shape;148;p24">
            <a:extLst>
              <a:ext uri="{FF2B5EF4-FFF2-40B4-BE49-F238E27FC236}">
                <a16:creationId xmlns:a16="http://schemas.microsoft.com/office/drawing/2014/main" id="{773436D5-CA53-8E03-7506-431332E19C61}"/>
              </a:ext>
            </a:extLst>
          </p:cNvPr>
          <p:cNvSpPr txBox="1">
            <a:spLocks/>
          </p:cNvSpPr>
          <p:nvPr/>
        </p:nvSpPr>
        <p:spPr>
          <a:xfrm>
            <a:off x="4641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never too late!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675E6E-7190-4748-68A3-8EBE1B414F93}"/>
              </a:ext>
            </a:extLst>
          </p:cNvPr>
          <p:cNvSpPr txBox="1"/>
          <p:nvPr/>
        </p:nvSpPr>
        <p:spPr>
          <a:xfrm>
            <a:off x="533604" y="4263625"/>
            <a:ext cx="8381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changing only the starting noise, we can recover lost diversity in text-to-image diffusion models.</a:t>
            </a:r>
          </a:p>
        </p:txBody>
      </p:sp>
      <p:pic>
        <p:nvPicPr>
          <p:cNvPr id="4" name="Picture 3" descr="A collage of cats&#10;&#10;AI-generated content may be incorrect.">
            <a:extLst>
              <a:ext uri="{FF2B5EF4-FFF2-40B4-BE49-F238E27FC236}">
                <a16:creationId xmlns:a16="http://schemas.microsoft.com/office/drawing/2014/main" id="{2A31FC70-45BA-F632-74B6-3DB41EE1F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70" y="1451723"/>
            <a:ext cx="8127060" cy="222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4093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6B322-6D80-E51B-3685-43CB382E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</p:txBody>
      </p:sp>
      <p:pic>
        <p:nvPicPr>
          <p:cNvPr id="5" name="Picture 4" descr="A person smiling at camera&#10;&#10;AI-generated content may be incorrect.">
            <a:extLst>
              <a:ext uri="{FF2B5EF4-FFF2-40B4-BE49-F238E27FC236}">
                <a16:creationId xmlns:a16="http://schemas.microsoft.com/office/drawing/2014/main" id="{E147B688-27FB-77A8-DAD0-50749E471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68" y="1636635"/>
            <a:ext cx="1207008" cy="12070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AAF975-F6B6-DAA4-7AF2-84D07336618B}"/>
              </a:ext>
            </a:extLst>
          </p:cNvPr>
          <p:cNvSpPr txBox="1"/>
          <p:nvPr/>
        </p:nvSpPr>
        <p:spPr>
          <a:xfrm>
            <a:off x="555036" y="2864538"/>
            <a:ext cx="1321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Anne Harrington*</a:t>
            </a:r>
          </a:p>
        </p:txBody>
      </p:sp>
      <p:pic>
        <p:nvPicPr>
          <p:cNvPr id="7" name="Picture 6" descr="A blurry image of a person's face&#10;&#10;AI-generated content may be incorrect.">
            <a:extLst>
              <a:ext uri="{FF2B5EF4-FFF2-40B4-BE49-F238E27FC236}">
                <a16:creationId xmlns:a16="http://schemas.microsoft.com/office/drawing/2014/main" id="{DD5B02F3-E470-5605-865E-3EF97C453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325" y="1639273"/>
            <a:ext cx="1207008" cy="12070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BBBCED-E196-717A-B6BE-ECE14C29F2E7}"/>
              </a:ext>
            </a:extLst>
          </p:cNvPr>
          <p:cNvSpPr txBox="1"/>
          <p:nvPr/>
        </p:nvSpPr>
        <p:spPr>
          <a:xfrm>
            <a:off x="2166684" y="2857875"/>
            <a:ext cx="1410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Sophia Koepke*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063816-F033-C775-4CC9-D89468FA2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082" y="1639273"/>
            <a:ext cx="1207008" cy="12070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F4ABB1-6029-E931-3D78-87676024ECE4}"/>
              </a:ext>
            </a:extLst>
          </p:cNvPr>
          <p:cNvSpPr txBox="1"/>
          <p:nvPr/>
        </p:nvSpPr>
        <p:spPr>
          <a:xfrm>
            <a:off x="3690722" y="2869470"/>
            <a:ext cx="1608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Shyamgopal</a:t>
            </a:r>
            <a:r>
              <a:rPr lang="e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Karthik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person wearing glasses and a black shirt&#10;&#10;AI-generated content may be incorrect.">
            <a:extLst>
              <a:ext uri="{FF2B5EF4-FFF2-40B4-BE49-F238E27FC236}">
                <a16:creationId xmlns:a16="http://schemas.microsoft.com/office/drawing/2014/main" id="{938C4004-2E47-4045-0002-8D074CF77B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" b="33645"/>
          <a:stretch>
            <a:fillRect/>
          </a:stretch>
        </p:blipFill>
        <p:spPr>
          <a:xfrm>
            <a:off x="7178594" y="1639273"/>
            <a:ext cx="1205595" cy="12070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88290D-B3B6-EF3B-D065-B689A0475455}"/>
              </a:ext>
            </a:extLst>
          </p:cNvPr>
          <p:cNvSpPr txBox="1"/>
          <p:nvPr/>
        </p:nvSpPr>
        <p:spPr>
          <a:xfrm>
            <a:off x="7177181" y="2869470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Alexei A. Efros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person in a black shirt&#10;&#10;AI-generated content may be incorrect.">
            <a:extLst>
              <a:ext uri="{FF2B5EF4-FFF2-40B4-BE49-F238E27FC236}">
                <a16:creationId xmlns:a16="http://schemas.microsoft.com/office/drawing/2014/main" id="{0C754EFF-1FD1-A770-1197-C5109378E9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1838" y="1636635"/>
            <a:ext cx="1207008" cy="12070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B2558BF-724A-A096-C38F-2F5F0D63FF49}"/>
              </a:ext>
            </a:extLst>
          </p:cNvPr>
          <p:cNvSpPr txBox="1"/>
          <p:nvPr/>
        </p:nvSpPr>
        <p:spPr>
          <a:xfrm>
            <a:off x="5522768" y="2857875"/>
            <a:ext cx="1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Trevor Darrell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F9B8839E-F25A-C3D1-B36D-A79BFB6297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37212" b="33644"/>
          <a:stretch>
            <a:fillRect/>
          </a:stretch>
        </p:blipFill>
        <p:spPr>
          <a:xfrm>
            <a:off x="3017728" y="4033202"/>
            <a:ext cx="3108544" cy="90596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9861F33-9368-A6EC-A213-3D7B87381A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3108" y="4033202"/>
            <a:ext cx="2690704" cy="8648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403D795-E0E6-7FC3-CA6C-D371FF0606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1700" y="3770655"/>
            <a:ext cx="2028874" cy="107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8964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3733</TotalTime>
  <Words>909</Words>
  <Application>Microsoft Macintosh PowerPoint</Application>
  <PresentationFormat>On-screen Show (16:9)</PresentationFormat>
  <Paragraphs>158</Paragraphs>
  <Slides>40</Slides>
  <Notes>39</Notes>
  <HiddenSlides>1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Apple Color Emoji</vt:lpstr>
      <vt:lpstr>Arial</vt:lpstr>
      <vt:lpstr>Cambria Math</vt:lpstr>
      <vt:lpstr>Comic Sans MS</vt:lpstr>
      <vt:lpstr>Times New Roman</vt:lpstr>
      <vt:lpstr>Simple Light</vt:lpstr>
      <vt:lpstr>It’s Never Too Late: Noise Optimization for Collapse Recovery in Trained Diffusion Models</vt:lpstr>
      <vt:lpstr>The magic of text to image diffusion models ✨</vt:lpstr>
      <vt:lpstr>What if we keep generating…?</vt:lpstr>
      <vt:lpstr>What if we keep generating…?</vt:lpstr>
      <vt:lpstr>What if we keep generating…?</vt:lpstr>
      <vt:lpstr>What if we keep generating…?</vt:lpstr>
      <vt:lpstr>What if we keep generating…?</vt:lpstr>
      <vt:lpstr>…mode collapse</vt:lpstr>
      <vt:lpstr>…mode collapse</vt:lpstr>
      <vt:lpstr>Can we recover visual diversity?</vt:lpstr>
      <vt:lpstr>We could select more diverse sets</vt:lpstr>
      <vt:lpstr>Scaling Group Inference (Parmar et al. 2025)</vt:lpstr>
      <vt:lpstr>Options do we have?</vt:lpstr>
      <vt:lpstr>Options do we have?</vt:lpstr>
      <vt:lpstr>Options do we have?</vt:lpstr>
      <vt:lpstr>Options do we have?</vt:lpstr>
      <vt:lpstr>Options do we have?</vt:lpstr>
      <vt:lpstr>Options do we have?</vt:lpstr>
      <vt:lpstr>Our solution – optimize initial noise for output diversity</vt:lpstr>
      <vt:lpstr>Our solution – optimize initial noise for output diversity</vt:lpstr>
      <vt:lpstr>Our solution – optimize initial noise for output diversity</vt:lpstr>
      <vt:lpstr>Our solution – optimize initial noise for output diversity</vt:lpstr>
      <vt:lpstr>Our solution – optimize initial noise for output diversity</vt:lpstr>
      <vt:lpstr>Our solution – optimize initial noise for output diversity</vt:lpstr>
      <vt:lpstr>Our method improves diversity in color, orientation, and style across models </vt:lpstr>
      <vt:lpstr>We achieve superior diversity scores on GenEval while maintaining quality</vt:lpstr>
      <vt:lpstr>We achieve superior diversity scores on GenEval while maintaining quality</vt:lpstr>
      <vt:lpstr>We achieve superior diversity scores on GenEval while maintaining quality</vt:lpstr>
      <vt:lpstr>We achieve superior diversity scores on GenEval while maintaining quality</vt:lpstr>
      <vt:lpstr>Our method scales to large, diverse image sets via sequential generation </vt:lpstr>
      <vt:lpstr>We increase diversity even on highly specified prompts </vt:lpstr>
      <vt:lpstr>We increase diversity even on highly specified prompts </vt:lpstr>
      <vt:lpstr>We increase diversity even on highly specified prompts </vt:lpstr>
      <vt:lpstr>Diversity is metric dependent, set level objectives preferred</vt:lpstr>
      <vt:lpstr>What happens to the noise?</vt:lpstr>
      <vt:lpstr>Optimization changes low frequency information the most</vt:lpstr>
      <vt:lpstr>Noise can be initialized with different frequency profiles</vt:lpstr>
      <vt:lpstr>Boosting low frequencies via pink noise initialization improves diversity at inference and during optimization </vt:lpstr>
      <vt:lpstr> 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Almut Sophia Koepke</cp:lastModifiedBy>
  <cp:revision>288</cp:revision>
  <cp:lastPrinted>2026-03-05T06:11:45Z</cp:lastPrinted>
  <dcterms:modified xsi:type="dcterms:W3CDTF">2026-10-31T14:16:46Z</dcterms:modified>
</cp:coreProperties>
</file>